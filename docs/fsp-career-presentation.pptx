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7" r:id="rId5"/>
    <p:sldId id="268" r:id="rId25"/>
    <p:sldId id="270" r:id="rId28"/>
    <p:sldId id="269" r:id="rId27"/>
    <p:sldId id="260" r:id="rId19"/>
    <p:sldId id="263" r:id="rId22"/>
    <p:sldId id="266" r:id="rId23"/>
    <p:sldId id="371" r:id="rId17"/>
    <p:sldId id="264" r:id="rId24"/>
    <p:sldId id="261" r:id="rId20"/>
    <p:sldId id="374" r:id="rId18"/>
    <p:sldId id="262" r:id="rId21"/>
    <p:sldId id="372" r:id="rId14"/>
    <p:sldId id="272" r:id="rId30"/>
    <p:sldId id="373" r:id="rId15"/>
    <p:sldId id="370" r:id="rId16"/>
    <p:sldId id="267" r:id="rId2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rgbClr val="FFD6E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25.7</c:v>
                </c:pt>
                <c:pt idx="1">
                  <c:v>96.8</c:v>
                </c:pt>
                <c:pt idx="2">
                  <c:v>96.8</c:v>
                </c:pt>
                <c:pt idx="3">
                  <c:v>96.8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Карьера: незамеченное завышение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15.6</c:v>
                </c:pt>
                <c:pt idx="2">
                  <c:v>13.0</c:v>
                </c:pt>
                <c:pt idx="3">
                  <c:v>10.8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7E4FA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7E4FA0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1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Вес компоненты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5209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Текст</c:v>
                </c:pt>
                <c:pt idx="1">
                  <c:v>Условия</c:v>
                </c:pt>
                <c:pt idx="2">
                  <c:v>Категория</c:v>
                </c:pt>
                <c:pt idx="3">
                  <c:v>Сила профиля</c:v>
                </c:pt>
                <c:pt idx="4">
                  <c:v>Навыки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5E1E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5.0"/>
          <c:min val="0.0"/>
        </c:scaling>
        <c:delete/>
        <c:axPos val="b"/>
        <c:majorGridlines>
          <c:spPr>
            <a:ln w="6350" cap="flat" cmpd="sng" algn="ctr">
              <a:solidFill>
                <a:srgbClr val="E5E1EF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.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P@10</c:v>
                </c:pt>
              </c:strCache>
            </c:strRef>
          </c:tx>
          <c:dPt>
            <c:idx val="0"/>
            <c:spPr>
              <a:solidFill>
                <a:srgbClr val="8A83D1"/>
              </a:solidFill>
              <a:ln>
                <a:noFill/>
              </a:ln>
            </c:spPr>
          </c:dPt>
          <c:dPt>
            <c:idx val="1"/>
            <c:spPr>
              <a:solidFill>
                <a:srgbClr val="8A83D1"/>
              </a:solidFill>
              <a:ln>
                <a:noFill/>
              </a:ln>
            </c:spPr>
          </c:dPt>
          <c:dPt>
            <c:idx val="2"/>
            <c:spPr>
              <a:solidFill>
                <a:srgbClr val="8A83D1"/>
              </a:solidFill>
              <a:ln>
                <a:noFill/>
              </a:ln>
            </c:spPr>
          </c:dPt>
          <c:dPt>
            <c:idx val="3"/>
            <c:spPr>
              <a:solidFill>
                <a:srgbClr val="FF0053"/>
              </a:solidFill>
              <a:ln>
                <a:noFill/>
              </a:ln>
            </c:spPr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Поиск по ключевым словам</c:v>
                </c:pt>
                <c:pt idx="1">
                  <c:v>Категория из резюме (абляция)</c:v>
                </c:pt>
                <c:pt idx="2">
                  <c:v>Фильтры по самоописанию</c:v>
                </c:pt>
                <c:pt idx="3">
                  <c:v>ФСП Карьера: текст → NLP</c:v>
                </c:pt>
                <c:pt idx="4">
                  <c:v>ФСП Карьера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72</c:v>
                </c:pt>
                <c:pt idx="2">
                  <c:v>75</c:v>
                </c:pt>
                <c:pt idx="3">
                  <c:v>84</c:v>
                </c:pt>
                <c:pt idx="4">
                  <c:v>84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5E1EF"/>
            </a:solidFill>
          </a:ln>
        </c:spPr>
        <c:txPr>
          <a:bodyPr/>
          <a:lstStyle/>
          <a:p>
            <a:pPr>
              <a:defRPr sz="11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6350">
              <a:solidFill>
                <a:srgbClr val="E5E1EF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C1D22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C1D22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Участники, роли и контакты. Заполните ФИО, роли, мессенджеры, телефоны и место учёбы или работы; фото вставляются в круглые рамки карточек.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История команды — заполните. Почему задача: измеримость результата. Главные сложности — отсутствие разметки, компромисс «утечки против сопоставимой сложности» и качество подбора, которое мы доказали валидацией.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Персональные данные под контролем кандидата: согласия, видимость, выгрузка и удаление. Работодателя ограничивают лимиты, индекс доверия и жалобы.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«…». Наше решение для задачи ФСП — платформа «ФСП Карьера»: подбор ИТ-специалистов с обратной механикой, где уровень подтверждает тест, а инициатива — у работодателя.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о команде (заполните поля) и суть решения: обратная механика найма на основе подтверждённого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Техническая суть — адаптивный тест и объяснимый подбор; маркетинговая — ценность для каждой из трёх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по рекомендуемой структуре: описание решения и механик, маркетинг, бизнес, техника, уникальность и планы.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— резюме не доказывает квалификацию. Существующие подходы либо доверяют самоописанию, либо дают тест, который утекает. Мы подтверждаем уровень тестом, устойчивым к утечкам, и меняем направление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Кандидат проходит опрос и адаптивный тест под прокторингом; задания подстраиваются под уровень, у каждого свои данные и свой код, время зависит от сложности. На выходе — категория, профиль компетенций и понятные правила пересдачи; вторая специализация — отдельное резюме со своим тестом и категорией.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пишет потребность обычным текстом. Система показывает подходящие категории с рынком и ранжированных кандидатов с объяснением, а дальше — приглашение с вилкой конкретному человеку.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 к устойчивости — семейства: структура задания и трудность фиксированы, а данные и ответ у каждого свои. Общая шкала IRT делает результаты сопоставимыми, адаптивный алгоритм — коротким тест, детекторы ловят списывание.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Эксперимент: нечестный кандидат знает все задания K предыдущих участников. Фиксированный тест завышают 97%, у нас незамеченное завышение остаётся на уровне честного прохождения — около 12%: списанное либо не подходит к своему варианту, либо помечается детектором и уходит на перепроверку. Снимки экрана ловит прокторинг.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Выдача строится только из категорий, подтверждённых тестом. Внутри — пять понятных компонент; навыки проверяются тестом на уровне требований, а каждая карточка объясняет, почему кандидат в подборке.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Готовой разметки нет, поэтому мы проверяем на популяции с известной истиной — тем же кодом, что в продукте. Подбор точнее фильтров по резюме, тест почти не завышает грейд, результат стабилен при пересдаче, а утечка базы не даёт незаметного преимущества.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вклад в качество даёт категория по тесту: стоит заменить её самоописанием — и точность падает, а «завысивших себя» в топе становится в 7,6 раза больше. Абляции мы показываем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Профиль связывается с ФСП ID по OpenID Connect — так же, как будет работать ФСП ID на Keycloak. Из реестра приходят достижения с протоколами; работодатель видит их в карточке. Нет истории — нет штрафа.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аудитории и для каждой — своя ценность. Кандидатам — доказанный уровень и честные условия, работодателям — экономия времени технических специалистов, ФСП — карьерный трек для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простая: кандидатам бесплатно, монетизация — на стороне работодателя. Конкретные цены — предмет пилота; ключевая метрика — стоимость найма против времени технических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Модульный монолит: API, тестирование, подбор, NLP и интеграции — отдельные слои; ядро теста не зависит от БД и используется в валидации. Всё поднимается одной командой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Интерфейс адаптивный: оба кабинета и тест работают на телефоне без горизонтальной прокрутки.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Отличие — в трёх вещах: уровень подтверждает тест, инициатива у работодателя, условия видны сразу. И всё это объяснимо для обеих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Ближайший шаг — пилот с ФСП: реальный ФСП ID, экспертная проверка грейдов и калибровка банка на живых ответах. Дальше — рост банка, интеграции с ATS и обучение ранжирования на исходах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Стенд поднимается одной командой, демо-аккаунты — на слайде.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20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A71D12-3714-B06A-0577-F3D4102D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9876B67-14B1-4E84-3099-066486C6AA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3" name="Текст 62">
            <a:extLst>
              <a:ext uri="{FF2B5EF4-FFF2-40B4-BE49-F238E27FC236}">
                <a16:creationId xmlns:a16="http://schemas.microsoft.com/office/drawing/2014/main" id="{ADEEF28E-2EFD-2887-33BC-A51A865CDD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8561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Подробное описание решения</a:t>
            </a:r>
          </a:p>
        </p:txBody>
      </p:sp>
      <p:sp>
        <p:nvSpPr>
          <p:cNvPr id="64" name="Текст 63">
            <a:extLst>
              <a:ext uri="{FF2B5EF4-FFF2-40B4-BE49-F238E27FC236}">
                <a16:creationId xmlns:a16="http://schemas.microsoft.com/office/drawing/2014/main" id="{06F65EAF-71EA-EB12-2CA8-42F074D6F35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110879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Маркетинговая часть решения</a:t>
            </a:r>
          </a:p>
        </p:txBody>
      </p:sp>
      <p:sp>
        <p:nvSpPr>
          <p:cNvPr id="65" name="Текст 64">
            <a:extLst>
              <a:ext uri="{FF2B5EF4-FFF2-40B4-BE49-F238E27FC236}">
                <a16:creationId xmlns:a16="http://schemas.microsoft.com/office/drawing/2014/main" id="{559C91FD-3F61-16BE-39A8-1F84603E2F5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693198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Бизнесовая составляющая решения</a:t>
            </a:r>
          </a:p>
        </p:txBody>
      </p:sp>
      <p:sp>
        <p:nvSpPr>
          <p:cNvPr id="66" name="Текст 65">
            <a:extLst>
              <a:ext uri="{FF2B5EF4-FFF2-40B4-BE49-F238E27FC236}">
                <a16:creationId xmlns:a16="http://schemas.microsoft.com/office/drawing/2014/main" id="{415F79D2-ED3E-5274-C2DB-D14A1FD9A57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528562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Техническая проработка решения</a:t>
            </a:r>
          </a:p>
        </p:txBody>
      </p:sp>
      <p:sp>
        <p:nvSpPr>
          <p:cNvPr id="67" name="Текст 66">
            <a:extLst>
              <a:ext uri="{FF2B5EF4-FFF2-40B4-BE49-F238E27FC236}">
                <a16:creationId xmlns:a16="http://schemas.microsoft.com/office/drawing/2014/main" id="{6E9FB7CA-5AB2-E9B1-1BFB-3C9FB4EF320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078087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Уникальность решения</a:t>
            </a:r>
          </a:p>
        </p:txBody>
      </p:sp>
      <p:sp>
        <p:nvSpPr>
          <p:cNvPr id="68" name="Текст 66">
            <a:extLst>
              <a:ext uri="{FF2B5EF4-FFF2-40B4-BE49-F238E27FC236}">
                <a16:creationId xmlns:a16="http://schemas.microsoft.com/office/drawing/2014/main" id="{D7322734-CD2C-FFD1-5414-A04B3FFA0E9E}"/>
              </a:ext>
            </a:extLst>
          </p:cNvPr>
          <p:cNvSpPr txBox="1">
            <a:spLocks/>
          </p:cNvSpPr>
          <p:nvPr/>
        </p:nvSpPr>
        <p:spPr>
          <a:xfrm>
            <a:off x="6659232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Планы </a:t>
            </a:r>
            <a:br>
              <a:rPr lang="ru-RU" sz="1600" dirty="0">
                <a:solidFill>
                  <a:schemeClr val="tx1"/>
                </a:solidFill>
              </a:rPr>
            </a:br>
            <a:r>
              <a:rPr lang="ru-RU" sz="1600" dirty="0">
                <a:solidFill>
                  <a:schemeClr val="tx1"/>
                </a:solidFill>
              </a:rPr>
              <a:t>по развитию решения</a:t>
            </a:r>
          </a:p>
        </p:txBody>
      </p:sp>
      <p:sp>
        <p:nvSpPr>
          <p:cNvPr id="69" name="Заголовок 1">
            <a:extLst>
              <a:ext uri="{FF2B5EF4-FFF2-40B4-BE49-F238E27FC236}">
                <a16:creationId xmlns:a16="http://schemas.microsoft.com/office/drawing/2014/main" id="{FE4D3CAE-6C98-9A12-8DB3-C465255EB270}"/>
              </a:ext>
            </a:extLst>
          </p:cNvPr>
          <p:cNvSpPr txBox="1">
            <a:spLocks/>
          </p:cNvSpPr>
          <p:nvPr/>
        </p:nvSpPr>
        <p:spPr>
          <a:xfrm>
            <a:off x="1542416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01</a:t>
            </a:r>
          </a:p>
        </p:txBody>
      </p:sp>
      <p:sp>
        <p:nvSpPr>
          <p:cNvPr id="70" name="Заголовок 1">
            <a:extLst>
              <a:ext uri="{FF2B5EF4-FFF2-40B4-BE49-F238E27FC236}">
                <a16:creationId xmlns:a16="http://schemas.microsoft.com/office/drawing/2014/main" id="{8D591A99-FA62-E4B6-074B-DE7DFC2747DA}"/>
              </a:ext>
            </a:extLst>
          </p:cNvPr>
          <p:cNvSpPr txBox="1">
            <a:spLocks/>
          </p:cNvSpPr>
          <p:nvPr/>
        </p:nvSpPr>
        <p:spPr>
          <a:xfrm>
            <a:off x="4110879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02</a:t>
            </a:r>
          </a:p>
        </p:txBody>
      </p:sp>
      <p:sp>
        <p:nvSpPr>
          <p:cNvPr id="71" name="Заголовок 1">
            <a:extLst>
              <a:ext uri="{FF2B5EF4-FFF2-40B4-BE49-F238E27FC236}">
                <a16:creationId xmlns:a16="http://schemas.microsoft.com/office/drawing/2014/main" id="{8493554C-62E8-20EA-4083-B4BCDE05B4D9}"/>
              </a:ext>
            </a:extLst>
          </p:cNvPr>
          <p:cNvSpPr txBox="1">
            <a:spLocks/>
          </p:cNvSpPr>
          <p:nvPr/>
        </p:nvSpPr>
        <p:spPr>
          <a:xfrm>
            <a:off x="6718121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03</a:t>
            </a:r>
          </a:p>
        </p:txBody>
      </p:sp>
      <p:sp>
        <p:nvSpPr>
          <p:cNvPr id="72" name="Заголовок 1">
            <a:extLst>
              <a:ext uri="{FF2B5EF4-FFF2-40B4-BE49-F238E27FC236}">
                <a16:creationId xmlns:a16="http://schemas.microsoft.com/office/drawing/2014/main" id="{F9A8CFF1-8555-6D47-3883-A979EED95298}"/>
              </a:ext>
            </a:extLst>
          </p:cNvPr>
          <p:cNvSpPr txBox="1">
            <a:spLocks/>
          </p:cNvSpPr>
          <p:nvPr/>
        </p:nvSpPr>
        <p:spPr>
          <a:xfrm>
            <a:off x="1542416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04</a:t>
            </a:r>
          </a:p>
        </p:txBody>
      </p:sp>
      <p:sp>
        <p:nvSpPr>
          <p:cNvPr id="73" name="Заголовок 1">
            <a:extLst>
              <a:ext uri="{FF2B5EF4-FFF2-40B4-BE49-F238E27FC236}">
                <a16:creationId xmlns:a16="http://schemas.microsoft.com/office/drawing/2014/main" id="{8B14DCEC-C467-3FB8-B94E-B4598531C225}"/>
              </a:ext>
            </a:extLst>
          </p:cNvPr>
          <p:cNvSpPr txBox="1">
            <a:spLocks/>
          </p:cNvSpPr>
          <p:nvPr/>
        </p:nvSpPr>
        <p:spPr>
          <a:xfrm>
            <a:off x="4110879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05</a:t>
            </a:r>
          </a:p>
        </p:txBody>
      </p:sp>
      <p:sp>
        <p:nvSpPr>
          <p:cNvPr id="74" name="Заголовок 1">
            <a:extLst>
              <a:ext uri="{FF2B5EF4-FFF2-40B4-BE49-F238E27FC236}">
                <a16:creationId xmlns:a16="http://schemas.microsoft.com/office/drawing/2014/main" id="{FEDC5416-04B2-9C00-62A0-708AA22886DF}"/>
              </a:ext>
            </a:extLst>
          </p:cNvPr>
          <p:cNvSpPr txBox="1">
            <a:spLocks/>
          </p:cNvSpPr>
          <p:nvPr/>
        </p:nvSpPr>
        <p:spPr>
          <a:xfrm>
            <a:off x="6718121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06</a:t>
            </a:r>
          </a:p>
        </p:txBody>
      </p:sp>
      <p:sp>
        <p:nvSpPr>
          <p:cNvPr id="4" name="Текст 62">
            <a:extLst>
              <a:ext uri="{FF2B5EF4-FFF2-40B4-BE49-F238E27FC236}">
                <a16:creationId xmlns:a16="http://schemas.microsoft.com/office/drawing/2014/main" id="{CB9AA357-72FF-E44D-217D-FF4B276EFA1B}"/>
              </a:ext>
            </a:extLst>
          </p:cNvPr>
          <p:cNvSpPr txBox="1">
            <a:spLocks/>
          </p:cNvSpPr>
          <p:nvPr/>
        </p:nvSpPr>
        <p:spPr>
          <a:xfrm>
            <a:off x="1260867" y="1186647"/>
            <a:ext cx="7315200" cy="449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ru-RU" sz="1600" b="1">
                <a:solidFill>
                  <a:schemeClr val="tx1"/>
                </a:solidFill>
                <a:latin typeface="+mj-lt"/>
              </a:rPr>
              <a:t>Шесть разделов по рекомендуемой структуре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007DB65E-C015-AD4B-89DB-F9D3AC626890}"/>
              </a:ext>
            </a:extLst>
          </p:cNvPr>
          <p:cNvSpPr/>
          <p:nvPr/>
        </p:nvSpPr>
        <p:spPr>
          <a:xfrm>
            <a:off x="3904439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0A05E9E-8AD7-0239-43DE-88F10CEED428}"/>
              </a:ext>
            </a:extLst>
          </p:cNvPr>
          <p:cNvSpPr/>
          <p:nvPr/>
        </p:nvSpPr>
        <p:spPr>
          <a:xfrm>
            <a:off x="6499358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3FA0D8C-889D-F067-D5F5-B7E978E24094}"/>
              </a:ext>
            </a:extLst>
          </p:cNvPr>
          <p:cNvSpPr/>
          <p:nvPr/>
        </p:nvSpPr>
        <p:spPr>
          <a:xfrm>
            <a:off x="1346590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D020AD0E-B364-26E0-024D-AA2C32869C6A}"/>
              </a:ext>
            </a:extLst>
          </p:cNvPr>
          <p:cNvSpPr/>
          <p:nvPr/>
        </p:nvSpPr>
        <p:spPr>
          <a:xfrm>
            <a:off x="3904439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C9FC5005-AAB0-430A-23AB-B453FF909390}"/>
              </a:ext>
            </a:extLst>
          </p:cNvPr>
          <p:cNvSpPr/>
          <p:nvPr/>
        </p:nvSpPr>
        <p:spPr>
          <a:xfrm>
            <a:off x="6499358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2F058847-5D47-EE23-7E00-5CDDC807EBB5}"/>
              </a:ext>
            </a:extLst>
          </p:cNvPr>
          <p:cNvSpPr/>
          <p:nvPr/>
        </p:nvSpPr>
        <p:spPr>
          <a:xfrm>
            <a:off x="1346590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F22661D-EAE1-0D17-F4E9-421BC302E292}"/>
              </a:ext>
            </a:extLst>
          </p:cNvPr>
          <p:cNvSpPr/>
          <p:nvPr/>
        </p:nvSpPr>
        <p:spPr>
          <a:xfrm>
            <a:off x="947738" y="407926"/>
            <a:ext cx="4381500" cy="620919"/>
          </a:xfrm>
          <a:prstGeom prst="roundRect">
            <a:avLst>
              <a:gd name="adj" fmla="val 2422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6D6FB13-8737-86E7-E0B4-C9C48BFC91A6}"/>
              </a:ext>
            </a:extLst>
          </p:cNvPr>
          <p:cNvSpPr txBox="1">
            <a:spLocks/>
          </p:cNvSpPr>
          <p:nvPr/>
        </p:nvSpPr>
        <p:spPr>
          <a:xfrm>
            <a:off x="1260867" y="451168"/>
            <a:ext cx="7262838" cy="4540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pPr/>
            <a:r>
              <a:rPr lang="ru-RU" sz="2000">
                <a:solidFill>
                  <a:schemeClr val="bg1"/>
                </a:solidFill>
                <a:latin typeface="+mn-lt"/>
              </a:rPr>
              <a:t>ПРЕЗЕНТАЦИЯ РЕШЕНИЯ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2430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7–15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0279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198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52430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18–20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10279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05198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22</a:t>
            </a:r>
          </a:p>
        </p:txBody>
      </p:sp>
    </p:spTree>
    <p:extLst>
      <p:ext uri="{BB962C8B-B14F-4D97-AF65-F5344CB8AC3E}">
        <p14:creationId xmlns:p14="http://schemas.microsoft.com/office/powerpoint/2010/main" val="1986979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lnSpc>
                <a:spcPct val="100000"/>
              </a:lnSpc>
            </a:pPr>
            <a:r>
              <a:rPr lang="ru-RU" sz="4400" b="1"/>
              <a:t>ФСП Карьера</a:t>
            </a:r>
          </a:p>
          <a:p>
            <a:pPr marL="268288" indent="0">
              <a:lnSpc>
                <a:spcPct val="100000"/>
              </a:lnSpc>
            </a:pPr>
            <a:r>
              <a:rPr lang="ru-RU" sz="2000" b="0">
                <a:solidFill>
                  <a:srgbClr val="FFD6E3"/>
                </a:solidFill>
              </a:rPr>
              <a:t>Команда «Название команды»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marL="271463" indent="-3175"/>
            <a:r>
              <a:rPr lang="ru-RU"/>
              <a:t>Задача ФСП: цифровая платформа-агрегатор ИТ-вакансий с верифицированным профилем достижений участника Федерации спортивного программирования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_10_2.173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" r="2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Тест, устойчивый к утечкам: свои варианты заданий при одинаковой сложности (IRT) и прокторинг. Категория — по тесту, а не по резюме, до трёх специализаций; ФСП усиливает профиль без штрафа за отсутствие.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 b="1">
                <a:solidFill>
                  <a:schemeClr val="tx1"/>
                </a:solidFill>
              </a:rPr>
              <a:t>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Участников: </a:t>
            </a:r>
            <a:r>
              <a:rPr lang="ru-RU" b="1">
                <a:solidFill>
                  <a:schemeClr val="tx1"/>
                </a:solidFill>
              </a:rPr>
              <a:t>[N человек]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О команде: </a:t>
            </a:r>
            <a:r>
              <a:rPr lang="ru-RU" b="1">
                <a:solidFill>
                  <a:schemeClr val="tx1"/>
                </a:solidFill>
              </a:rPr>
              <a:t>[как собралась команда, место учёбы или работы]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 </a:t>
            </a:r>
            <a:r>
              <a:rPr lang="ru-RU" b="1">
                <a:solidFill>
                  <a:schemeClr val="tx1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000">
                <a:solidFill>
                  <a:srgbClr val="2D1451"/>
                </a:solidFill>
              </a:rPr>
              <a:t>О команде и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ФСП Карьера — платформа подбора ИТ-специалистов с обратной механикой: кандидат подтверждает уровень адаптивным тестом и получает категорию, работодатель находит категорию и сам приглашает конкретного человека — с вилкой зарплаты. Контакты открываются после согласия кандидата.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7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724148" cy="402336"/>
          </a:xfrm>
        </p:spPr>
        <p:txBody>
          <a:bodyPr wrap="none"/>
          <a:lstStyle/>
          <a:p>
            <a:pPr/>
            <a:r>
              <a:rPr lang="ru-RU"/>
              <a:t>КОМАНДА «НАЗВАНИЕ»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35965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131057" cy="402336"/>
          </a:xfrm>
        </p:spPr>
        <p:txBody>
          <a:bodyPr wrap="none"/>
          <a:lstStyle/>
          <a:p>
            <a:pPr/>
            <a:r>
              <a:rPr lang="ru-RU"/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[Как собралась команда, в каких хакатонах и проектах участвовали вместе, интересные факты]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1) Нет эталонных данных → синтетическая популяция с известной «истиной» для проверки теста и подбора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2) Утечки против сопоставимости → семейства заданий с уникальными вариантами на общей шкале IRT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3) Первые версии подбора уступали фильтрам → разобрали ошибки и довели P@10 до 0,84 против 0,75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Задача соединяет психометрику (как честно измерить навык), ML и NLP для подбора и продуктовую механику найма — и её результат можно доказать числами, построив собственную процедуру валидации.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139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Адаптивный тест IRT (3PL): 359 семейств заданий, свой вариант каждому, прокторинг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Категория = специализация × грейд по тесту; до трёх специализаций у кандидата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Подбор: NLP-разбор вакансии → категории → ранжирование с объяснением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ID по OpenID Connect (пути Keycloak); резюме из PDF, включая экспорт hh.ru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FastAPI, PostgreSQL, React; Docker, 91 метод OpenAPI, 495 автотестов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Работодатель видит только кандидатов с подтверждённым уровнем и рынок категории до найма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Кандидат получает предложения с вилкой до начала общения — без откликов вслепую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получает канал трудоустройства участников и аргумент для вовлечения в соревнования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Развитие: пилот с ФСП и партнёрами, ATS-интеграции, тарифы для компаний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85388" cy="402336"/>
          </a:xfrm>
        </p:spPr>
        <p:txBody>
          <a:bodyPr wrap="none"/>
          <a:lstStyle/>
          <a:p>
            <a:pPr/>
            <a:r>
              <a:rPr lang="ru-RU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Демо: </a:t>
            </a:r>
            <a:r>
              <a:rPr lang="ru-RU" sz="1400">
                <a:solidFill>
                  <a:srgbClr val="1C1D22"/>
                </a:solidFill>
              </a:rPr>
              <a:t>docker compose up --build → http://localhost:8080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Репозиторий: </a:t>
            </a:r>
            <a:r>
              <a:rPr lang="ru-RU" sz="1400">
                <a:solidFill>
                  <a:srgbClr val="1C1D22"/>
                </a:solidFill>
              </a:rPr>
              <a:t>[ссылка на репозиторий]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Документация: </a:t>
            </a:r>
            <a:r>
              <a:rPr lang="ru-RU" sz="1400">
                <a:solidFill>
                  <a:srgbClr val="1C1D22"/>
                </a:solidFill>
              </a:rPr>
              <a:t>docs/fsp-career-documentation.pdf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Демо-аккаунты </a:t>
            </a:r>
            <a:r>
              <a:rPr lang="ru-RU" sz="1400">
                <a:solidFill>
                  <a:srgbClr val="1C1D22"/>
                </a:solidFill>
              </a:rPr>
              <a:t>(пароль demo12345): employer@demo.ru, candidate@demo.ru, newbie@demo.ru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ФСП ID (тестовый): </a:t>
            </a:r>
            <a:r>
              <a:rPr lang="ru-RU" sz="1400">
                <a:solidFill>
                  <a:srgbClr val="1C1D22"/>
                </a:solidFill>
              </a:rPr>
              <a:t>alice / gleb, пароль fsp12345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Контакты команды: </a:t>
            </a:r>
            <a:r>
              <a:rPr lang="ru-RU" sz="1400">
                <a:solidFill>
                  <a:srgbClr val="1C1D22"/>
                </a:solidFill>
              </a:rPr>
              <a:t>[Telegram капитана]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800">
                <a:solidFill>
                  <a:srgbClr val="2D1451"/>
                </a:solidFill>
              </a:rPr>
              <a:t>СПАСИБО!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7315200" cy="552061"/>
          </a:xfrm>
        </p:spPr>
        <p:txBody>
          <a:bodyPr/>
          <a:lstStyle/>
          <a:p>
            <a:pPr/>
            <a:r>
              <a:rPr lang="ru-RU"/>
              <a:t>04 · ТЕХНИЧЕСКАЯ ПРОРАБОТКА</a:t>
            </a:r>
          </a:p>
        </p:txBody>
      </p:sp>
      <p:pic>
        <p:nvPicPr>
          <p:cNvPr id="22" name="Picture 2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50588"/>
            <a:ext cx="7863840" cy="437063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32520" y="1691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14884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метод API, OpenAPI / Swagger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7889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495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автотестов: банк заданий, сквозной сценарий, резюме, прокторинг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886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0,1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3434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подборка по 700 кандидатам на стенде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8347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1 команда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5440679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docker compose up: 5 контейнеров, ≈ 2 ГБ RAM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20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846320" cy="415925"/>
          </a:xfrm>
        </p:spPr>
        <p:txBody>
          <a:bodyPr/>
          <a:lstStyle/>
          <a:p>
            <a:pPr/>
            <a:r>
              <a:rPr lang="ru-RU" sz="1800">
                <a:solidFill>
                  <a:srgbClr val="2D1451"/>
                </a:solidFill>
              </a:rPr>
              <a:t>04 · БЕЗОПАСНОСТЬ И ДОВЕРИЕ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152-ФЗ: </a:t>
            </a:r>
            <a:r>
              <a:rPr lang="ru-RU" sz="1200">
                <a:solidFill>
                  <a:srgbClr val="1C1D22"/>
                </a:solidFill>
              </a:rPr>
              <a:t>отдельные согласия на обработку и публикацию, журнал согласий, выгрузка и удаление данных.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Контакты скрыты </a:t>
            </a:r>
            <a:r>
              <a:rPr lang="ru-RU" sz="1200">
                <a:solidFill>
                  <a:srgbClr val="1C1D22"/>
                </a:solidFill>
              </a:rPr>
              <a:t>до принятия приглашения или отклика; по умолчанию — анонимный код вместо имени.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Защита доступа: </a:t>
            </a:r>
            <a:r>
              <a:rPr lang="ru-RU" sz="1200">
                <a:solidFill>
                  <a:srgbClr val="1C1D22"/>
                </a:solidFill>
              </a:rPr>
              <a:t>Argon2id для паролей, HMAC для кодов, JWT, лимиты попыток, проверка роли и владельца.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Недобросовестные работодатели: </a:t>
            </a:r>
            <a:r>
              <a:rPr lang="ru-RU" sz="1200">
                <a:solidFill>
                  <a:srgbClr val="1C1D22"/>
                </a:solidFill>
              </a:rPr>
              <a:t>лимит 60 приглашений в сутки, индекс доверия, жалобы, отказ от предложений ниже ожиданий; ATS — webhook.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Честный тест: </a:t>
            </a:r>
            <a:r>
              <a:rPr lang="ru-RU" sz="1200">
                <a:solidFill>
                  <a:srgbClr val="1C1D22"/>
                </a:solidFill>
              </a:rPr>
              <a:t>прокторинг снимков экрана, печати и копирования; сохраняются только события, экран не записывается.</a:t>
            </a:r>
          </a:p>
        </p:txBody>
      </p:sp>
      <p:pic>
        <p:nvPicPr>
          <p:cNvPr id="10" name="Picture 9" descr="priv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841898"/>
            <a:ext cx="5440680" cy="5539962"/>
          </a:xfrm>
          <a:prstGeom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91667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688078" cy="402336"/>
          </a:xfrm>
        </p:spPr>
        <p:txBody>
          <a:bodyPr wrap="none"/>
          <a:lstStyle/>
          <a:p>
            <a:pPr/>
            <a:r>
              <a:rPr lang="ru-RU"/>
              <a:t>05 · УНИКАЛЬНОСТЬ РЕШЕНИЯ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Чем подтверждается уровень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Кто проявляет инициативу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Когда видны условия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Тест и утечки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Объяснимость выдачи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21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86200" y="1188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5B6475"/>
                </a:solidFill>
              </a:rPr>
              <a:t>Универсальные площадки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118872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FF0053"/>
                </a:solidFill>
              </a:rPr>
              <a:t>ФСП Карьера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169502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Самоописание в резюме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169502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Адаптивный тест на шкале IRT и достижения ФСП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255203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Кандидат откликается вслепую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55203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Работодатель приглашает конкретного человека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09044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Часто — после собеседования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409044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Вилка в каждом приглашении до начала общения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426605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Единый набор заданий быстро расходится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26605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Свой вариант каждому, детекторы и прокторинг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512306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Совпадение ключевых слов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12306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Причины «за/против» и аналитика рынка категории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629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47694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Точность подбора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22018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Доля релевантных в топ-10. Фильтры по резюме — 0,75, поиск по ключевым словам — 0,27.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51071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Завышение грейда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22551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Тест завышает грейд у 3,1% кандидатов, самооценка в резюме — у 36%. Грейд ±1 — 95%.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51681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Стабильность грейда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22804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Взвешенная κ при повторном тесте с другими заданиями; дискриминативность D = 0,42.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47694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Незамеченное завышение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22017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При «слитой» базе из 25 прохождений — уровень честного теста (12%). Фиксированный тест — 97%.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34358" cy="402336"/>
          </a:xfrm>
        </p:spPr>
        <p:txBody>
          <a:bodyPr wrap="none"/>
          <a:lstStyle/>
          <a:p>
            <a:pPr/>
            <a:r>
              <a:rPr lang="ru-RU"/>
              <a:t>01 · ВАЛИДАЦИЯ: ГЛАВНОЕ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0,84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674760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3,1%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674603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0,80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000">
                <a:solidFill>
                  <a:srgbClr val="FFD6E3"/>
                </a:solidFill>
              </a:rPr>
              <a:t>Monte-Carlo-валидация на синтетической популяции с известной истиной (1500 кандидатов; 900 × 60 пар) · воспроизводится: python -m validation.run_all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61060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Кандидаты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Участники соревнований ФСП, студенты ИТ-вузов, разработчики уровня Junior–Senior.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подтверждённый уровень вместо резюме, предложения с вилкой, достижения ФСП как карьерный актив.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сообщество ФСП, соревнования, вузы-партнёры.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Работодатели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ИТ-компании и ИТ-подразделения, партнёры и спонсоры соревнований.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кандидаты с проверенным грейдом, рынок категории до найма, меньше часов техспециалистов на отбор.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партнёры ФСП, HR-сообщества, отраслевые события.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ФСП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Оператор и партнёр платформы.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канал трудоустройства участников, данные о востребованных навыках, новые партнёры.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Метрики пилота: доля принятых приглашений, время до найма, NPS обеих сторон.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382008" cy="402336"/>
          </a:xfrm>
        </p:spPr>
        <p:txBody>
          <a:bodyPr wrap="none"/>
          <a:lstStyle/>
          <a:p>
            <a:pPr/>
            <a:r>
              <a:rPr lang="ru-RU"/>
              <a:t>02 · МАРКЕТИНГОВАЯ ЧАСТЬ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01827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Семейства заданий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359 шаблонов по 27 доменам с откалиброванной трудностью; 125 — параметрические.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Свой вариант каждому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Данные, код на языке кандидата и верный ответ генерируются из seed сессии.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Общая шкала IRT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Модель 3PL и оценка уровня EAP: результаты с разными заданиями сопоставимы.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Адаптивный выбор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Максимум информации, баланс доменов, случайный из топ-4, экспозиция ≤ 30%.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Решение по грейду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Подтверждён при P(θ ≥ границы) ≥ 0,6; грейд не понижается, смена — раз в 90 дней.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Детекторы и прокторинг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«Чужой вариант», дрейф заданий, person-fit; снимок экрана: предупреждение → штраф.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89678" cy="402336"/>
          </a:xfrm>
        </p:spPr>
        <p:txBody>
          <a:bodyPr wrap="none"/>
          <a:lstStyle/>
          <a:p>
            <a:pPr/>
            <a:r>
              <a:rPr lang="ru-RU"/>
              <a:t>01 · МЕХАНИКА ТЕСТИРОВАНИЯ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9146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ФСП ID по OpenID Connect: </a:t>
            </a:r>
            <a:r>
              <a:rPr lang="ru-RU" sz="1200">
                <a:solidFill>
                  <a:srgbClr val="1C1D22"/>
                </a:solidFill>
              </a:rPr>
              <a:t>code + PKCE, проверка id_token по JWKS. Пути как у Keycloak — для боевого ФСП ID достаточно сменить адрес и ключи клиента.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Реестр достижений: </a:t>
            </a:r>
            <a:r>
              <a:rPr lang="ru-RU" sz="1200">
                <a:solidFill>
                  <a:srgbClr val="1C1D22"/>
                </a:solidFill>
              </a:rPr>
              <a:t>соревнование, уровень, дисциплина, место, команда, ссылка на протокол.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Сила профиля: </a:t>
            </a:r>
            <a:r>
              <a:rPr lang="ru-RU" sz="1200">
                <a:solidFill>
                  <a:srgbClr val="1C1D22"/>
                </a:solidFill>
              </a:rPr>
              <a:t>1 − Π(1 − 0,85·sᵢ) по релевантным дисциплинам; нет истории ФСП — нет штрафа.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686048" cy="402336"/>
          </a:xfrm>
        </p:spPr>
        <p:txBody>
          <a:bodyPr wrap="none"/>
          <a:lstStyle/>
          <a:p>
            <a:pPr/>
            <a:r>
              <a:rPr lang="ru-RU"/>
              <a:t>01 · ИНТЕГРАЦИЯ С ФСП</a:t>
            </a:r>
          </a:p>
        </p:txBody>
      </p:sp>
      <p:pic>
        <p:nvPicPr>
          <p:cNvPr id="11" name="Picture 10" descr="oidc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1" y="3108960"/>
            <a:ext cx="5504696" cy="3429000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  <p:pic>
        <p:nvPicPr>
          <p:cNvPr id="12" name="Picture 11" descr="fsp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517107"/>
            <a:ext cx="4343400" cy="4235265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5590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Кандидатам — бесплатно. </a:t>
            </a:r>
            <a:r>
              <a:rPr lang="ru-RU" sz="1300">
                <a:solidFill>
                  <a:srgbClr val="1C1D22"/>
                </a:solidFill>
              </a:rPr>
              <a:t>Платят работодатели: за доступ к кандидатам с подтверждённым уровнем и за инструменты найма.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ФСП — оператор и партнёр: </a:t>
            </a:r>
            <a:r>
              <a:rPr lang="ru-RU" sz="1300">
                <a:solidFill>
                  <a:srgbClr val="1C1D22"/>
                </a:solidFill>
              </a:rPr>
              <a:t>бренд, сообщество и реестр достижений; доход направляется на развитие соревнований.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Ключевая метрика: </a:t>
            </a:r>
            <a:r>
              <a:rPr lang="ru-RU" sz="1300">
                <a:solidFill>
                  <a:srgbClr val="1C1D22"/>
                </a:solidFill>
              </a:rPr>
              <a:t>стоимость найма через платформу против часов технических специалистов на разбор откликов и собеседования.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Freemium для компаний: базовые подборки бесплатно, тариф — по числу приглашений и подборок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Тест по вакансии: собственный блюпринт и задания работодателя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Интеграция с ATS и API — корпоративный тариф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Спонсорские регулярные задания для категорий — бренд работодателя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Совместные программы с ФСП: стажировки и гранты для призёров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330448" cy="402336"/>
          </a:xfrm>
        </p:spPr>
        <p:txBody>
          <a:bodyPr wrap="none"/>
          <a:lstStyle/>
          <a:p>
            <a:pPr/>
            <a:r>
              <a:rPr lang="ru-RU"/>
              <a:t>03 · БИЗНЕС-МОДЕЛЬ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50043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Свой вариант у каждого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 из слитой базы не подходит к своему варианту: данные и ключ уникальны для каждого показа.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Детектор «чужого варианта»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Ответ, совпавший с ключом чужого варианта, помечает сессию: 72–82% нечестных при 0,6% ложных.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Прокторинг и дрейф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Снимок экрана: предупреждение, повтор — завершение со штрафом; «утёкшее» задание уходит из ротации.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737360"/>
          <a:ext cx="57607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75708" cy="402336"/>
          </a:xfrm>
        </p:spPr>
        <p:txBody>
          <a:bodyPr wrap="none"/>
          <a:lstStyle/>
          <a:p>
            <a:pPr/>
            <a:r>
              <a:rPr lang="ru-RU"/>
              <a:t>01 · УСТОЙЧИВОСТЬ К УТЕЧКАМ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1430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FFFFFF"/>
                </a:solidFill>
              </a:rPr>
              <a:t>Доля нечестных кандидатов, незаметно завысивших грейд, если «слита» база из K предыдущих прохождений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41584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Пул — категории по тесту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Основная, соседние грейды, смежные специализации; кандидат с несколькими резюме — один раз, с лучшим.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Навыки по свидетельствам теста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«Подтверждён», «заявлен» или «не подтвердился» на уровне требований вакансии.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Сила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0,6 · тест + 0,25 · ФСП + 0,15 · регулярные задания; нет истории ФСП — нет штрафа.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Объяснение и отклик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Причины «за/против» у каждого кандидата и вероятность, что он примет приглашение.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7472" y="1783080"/>
          <a:ext cx="58521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29888" cy="402336"/>
          </a:xfrm>
        </p:spPr>
        <p:txBody>
          <a:bodyPr wrap="none"/>
          <a:lstStyle/>
          <a:p>
            <a:pPr/>
            <a:r>
              <a:rPr lang="ru-RU"/>
              <a:t>01 · МЕХАНИКА ПОДБОРА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14300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Оценка соответствия = взвешенная сумма компонент × доступность (город, формат, ожидания по доходу)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43769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14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Категория по тесту — главный вклад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Если брать категорию из резюме, P@10 падает с 0,84 до 0,72, а «завысивших себя» в топ-10 — в 7,6 раза больше.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Сквозной сценарий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Текст вакансии → NLP → подборка: 0,84 — без потерь против структурированного запроса.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Честные абляции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Без ФСП — 0,84, без проверки навыков тестом — 0,86: в синтетике резюме перечисляют 92% навыков честно.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Скорость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Ранжирование пула до 900 кандидатов — 40 мс; подборка на стенде — 0,1–0,2 с.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8328" cy="402336"/>
          </a:xfrm>
        </p:spPr>
        <p:txBody>
          <a:bodyPr wrap="none"/>
          <a:lstStyle/>
          <a:p>
            <a:pPr/>
            <a:r>
              <a:rPr lang="ru-RU"/>
              <a:t>01 · ВАЛИДАЦИЯ ПОДБОРА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47472" y="1783080"/>
          <a:ext cx="6035040" cy="4206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11480" y="1143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Доля релевантных кандидатов в первой десятке выдачи (P@10), 900 кандидатов × 60 потребностей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201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57741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Резюме не подтверждает навыки: отбор сводится к ключевым словам, работодатель вручную разбирает сотни откликов, кандидат откликается вслепую и узнаёт условия последним.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55737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Универсальные площадки: поиск по самоописанию. Единый тест быстро расходится между кандидатами, а уникальные задания от нейросети несопоставимы по сложности.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53733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Категория по адаптивному тесту с уникальными вариантами на общей шкале IRT. Работодатель находит категорию и приглашает кандидата с вилкой; контакты — после согласия.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91508" cy="402336"/>
          </a:xfrm>
        </p:spPr>
        <p:txBody>
          <a:bodyPr wrap="none"/>
          <a:lstStyle/>
          <a:p>
            <a:pPr/>
            <a:r>
              <a:rPr lang="ru-RU"/>
              <a:t>01 · 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 descr="icon_36_62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778" y="1668324"/>
            <a:ext cx="777240" cy="777240"/>
          </a:xfrm>
          <a:prstGeom prst="rect">
            <a:avLst/>
          </a:prstGeom>
        </p:spPr>
      </p:pic>
      <p:pic>
        <p:nvPicPr>
          <p:cNvPr id="60" name="Picture 59" descr="icon_33_3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022" y="1668324"/>
            <a:ext cx="777240" cy="777240"/>
          </a:xfrm>
          <a:prstGeom prst="rect">
            <a:avLst/>
          </a:prstGeom>
        </p:spPr>
      </p:pic>
      <p:pic>
        <p:nvPicPr>
          <p:cNvPr id="61" name="Picture 60" descr="icon_33_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2770" y="1698355"/>
            <a:ext cx="777240" cy="777240"/>
          </a:xfrm>
          <a:prstGeom prst="rect">
            <a:avLst/>
          </a:prstGeom>
        </p:spPr>
      </p:pic>
      <p:sp>
        <p:nvSpPr>
          <p:cNvPr id="62" name="Text Placeholder 61"/>
          <p:cNvSpPr>
            <a:spLocks noGrp="1"/>
          </p:cNvSpPr>
          <p:nvPr>
            <p:ph type="body" idx="33" sz="quarter"/>
          </p:nvPr>
        </p:nvSpPr>
        <p:spPr>
          <a:xfrm>
            <a:off x="657741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Проблема</a:t>
            </a:r>
          </a:p>
        </p:txBody>
      </p:sp>
      <p:sp>
        <p:nvSpPr>
          <p:cNvPr id="63" name="Text Placeholder 62"/>
          <p:cNvSpPr>
            <a:spLocks noGrp="1"/>
          </p:cNvSpPr>
          <p:nvPr>
            <p:ph type="body" idx="34" sz="quarter"/>
          </p:nvPr>
        </p:nvSpPr>
        <p:spPr>
          <a:xfrm>
            <a:off x="4555737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Как ищут сейчас</a:t>
            </a:r>
          </a:p>
        </p:txBody>
      </p:sp>
      <p:sp>
        <p:nvSpPr>
          <p:cNvPr id="64" name="Text Placeholder 63"/>
          <p:cNvSpPr>
            <a:spLocks noGrp="1"/>
          </p:cNvSpPr>
          <p:nvPr>
            <p:ph type="body" idx="35" sz="quarter"/>
          </p:nvPr>
        </p:nvSpPr>
        <p:spPr>
          <a:xfrm>
            <a:off x="8453733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Наше решение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3693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Пилот с ФСП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ФСП ID на Keycloak и реестр; 100–200 участников; экспертная проверка грейдов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Банк 800+ заданий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Задачи с исполнением кода; конвейер «черновик LLM → ревью → пилот → калибровка»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Масштаб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Обучение ранжирования на исходах найма, мобильное приложение, новые направления ФСП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Калибровка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Онлайн-калибровка банка на реальных ответах; разметка релевантности работодателями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Доверие и ATS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Верификация компаний, модерация вакансий, коннекторы к ATS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0708" cy="402336"/>
          </a:xfrm>
        </p:spPr>
        <p:txBody>
          <a:bodyPr wrap="none"/>
          <a:lstStyle/>
          <a:p>
            <a:pPr/>
            <a:r>
              <a:rPr lang="ru-RU"/>
              <a:t>06 · ПЛАНЫ ПО РАЗВИТИЮ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41661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election_tablet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28" r="28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1. Потребность текстом. </a:t>
            </a:r>
            <a:r>
              <a:rPr lang="ru-RU" sz="1300">
                <a:solidFill>
                  <a:srgbClr val="1C1D22"/>
                </a:solidFill>
              </a:rPr>
              <a:t>NLP определяет специализацию, грейд, обязательные и желательные навыки, вилку, формат и город.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2. Категории и рынок. </a:t>
            </a:r>
            <a:r>
              <a:rPr lang="ru-RU" sz="1300">
                <a:solidFill>
                  <a:srgbClr val="1C1D22"/>
                </a:solidFill>
              </a:rPr>
              <a:t>Сколько кандидатов, медиана ожиданий, доля в вашей вилке, сколько с достижениями ФСП.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3. Кандидаты с объяснением. </a:t>
            </a:r>
            <a:r>
              <a:rPr lang="ru-RU" sz="1300">
                <a:solidFill>
                  <a:srgbClr val="1C1D22"/>
                </a:solidFill>
              </a:rPr>
              <a:t>Причины «за/против», фильтры без потери подборки, приглашение с обязательной вилкой.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37508" cy="402336"/>
          </a:xfrm>
        </p:spPr>
        <p:txBody>
          <a:bodyPr wrap="none"/>
          <a:lstStyle/>
          <a:p>
            <a:pPr/>
            <a:r>
              <a:rPr lang="ru-RU"/>
              <a:t>01 · ПУТЬ РАБОТОДАТЕЛЯ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6606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Опрос → адаптивный тест. </a:t>
            </a:r>
            <a:r>
              <a:rPr lang="ru-RU" sz="1300">
                <a:solidFill>
                  <a:srgbClr val="1C1D22"/>
                </a:solidFill>
              </a:rPr>
              <a:t>12–24 задания, свой вариант каждому, время по сложности задания. Снимок экрана — предупреждение, повтор — завершение со штрафом.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Категории и профиль. </a:t>
            </a:r>
            <a:r>
              <a:rPr lang="ru-RU" sz="1300">
                <a:solidFill>
                  <a:srgbClr val="1C1D22"/>
                </a:solidFill>
              </a:rPr>
              <a:t>До трёх резюме под разные специализации — у каждого свой тест и категория. Грейд не понижается.</a:t>
            </a:r>
          </a:p>
        </p:txBody>
      </p:sp>
      <p:pic>
        <p:nvPicPr>
          <p:cNvPr id="5" name="Рисунок 4" descr="runner_14_1.805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9" r="2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grade_18_1.805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29" r="2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32047" cy="402336"/>
          </a:xfrm>
        </p:spPr>
        <p:txBody>
          <a:bodyPr wrap="none"/>
          <a:lstStyle/>
          <a:p>
            <a:pPr/>
            <a:r>
              <a:rPr lang="ru-RU"/>
              <a:t>01 · ПУТЬ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16991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_landing_14_0.472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r="1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m_runner_15_0.47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1" r="1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m_invitation_16_0.472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1" r="1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m_selection_17_0.472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1" r="1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Главная: механика и цифры платформы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Тест: задание, таймер, прогресс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Приглашение: вилка и условия до общения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Подборка: категории и рынок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41317" cy="402336"/>
          </a:xfrm>
        </p:spPr>
        <p:txBody>
          <a:bodyPr wrap="none"/>
          <a:lstStyle/>
          <a:p>
            <a:pPr/>
            <a:r>
              <a:rPr lang="ru-RU"/>
              <a:t>04 · МОБИЛЬНАЯ ВЕРСИЯ</a:t>
            </a: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