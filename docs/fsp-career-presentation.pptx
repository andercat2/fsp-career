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67" r:id="rId5"/>
    <p:sldId id="268" r:id="rId25"/>
    <p:sldId id="270" r:id="rId28"/>
    <p:sldId id="269" r:id="rId27"/>
    <p:sldId id="260" r:id="rId19"/>
    <p:sldId id="263" r:id="rId22"/>
    <p:sldId id="266" r:id="rId23"/>
    <p:sldId id="371" r:id="rId17"/>
    <p:sldId id="264" r:id="rId24"/>
    <p:sldId id="261" r:id="rId20"/>
    <p:sldId id="374" r:id="rId18"/>
    <p:sldId id="262" r:id="rId21"/>
    <p:sldId id="372" r:id="rId14"/>
    <p:sldId id="272" r:id="rId30"/>
    <p:sldId id="373" r:id="rId15"/>
    <p:sldId id="370" r:id="rId16"/>
    <p:sldId id="267" r:id="rId26"/>
    <p:sldId id="369" r:id="rId13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30" Type="http://schemas.openxmlformats.org/officeDocument/2006/relationships/slide" Target="slides/slide29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_____Microsoft_Excel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_____Microsoft_Excel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Фиксированный тест</c:v>
                </c:pt>
              </c:strCache>
            </c:strRef>
          </c:tx>
          <c:spPr>
            <a:solidFill>
              <a:srgbClr val="FFD6E3"/>
            </a:solidFill>
            <a:ln w="6350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Честно</c:v>
                </c:pt>
                <c:pt idx="1">
                  <c:v>K = 5</c:v>
                </c:pt>
                <c:pt idx="2">
                  <c:v>K = 25</c:v>
                </c:pt>
                <c:pt idx="3">
                  <c:v>K = 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24.8</c:v>
                </c:pt>
                <c:pt idx="1">
                  <c:v>96.5</c:v>
                </c:pt>
                <c:pt idx="2">
                  <c:v>96.5</c:v>
                </c:pt>
                <c:pt idx="3">
                  <c:v>96.5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ФСП Карьера: незамеченное завышение</c:v>
                </c:pt>
              </c:strCache>
            </c:strRef>
          </c:tx>
          <c:spPr>
            <a:solidFill>
              <a:srgbClr val="FF0053"/>
            </a:solidFill>
            <a:ln w="6350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Честно</c:v>
                </c:pt>
                <c:pt idx="1">
                  <c:v>K = 5</c:v>
                </c:pt>
                <c:pt idx="2">
                  <c:v>K = 25</c:v>
                </c:pt>
                <c:pt idx="3">
                  <c:v>K = 100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11.4</c:v>
                </c:pt>
                <c:pt idx="1">
                  <c:v>8.9</c:v>
                </c:pt>
                <c:pt idx="2">
                  <c:v>11.7</c:v>
                </c:pt>
                <c:pt idx="3">
                  <c:v>16.5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7E4FA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00.0"/>
          <c:min val="0.0"/>
        </c:scaling>
        <c:delete val="0"/>
        <c:axPos val="l"/>
        <c:majorGridlines>
          <c:spPr>
            <a:ln w="6350" cap="flat" cmpd="sng" algn="ctr">
              <a:solidFill>
                <a:srgbClr val="7E4FA0"/>
              </a:solidFill>
              <a:round/>
            </a:ln>
            <a:effectLst/>
          </c:spPr>
        </c:majorGridlines>
        <c:numFmt formatCode="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20.0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rgbClr val="FFFFFF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Вес компоненты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A83D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rgbClr val="FFD6E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rgbClr val="520977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rgbClr val="8A83D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dPt>
            <c:idx val="4"/>
            <c:spPr>
              <a:solidFill>
                <a:srgbClr val="FF0053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Текст</c:v>
                </c:pt>
                <c:pt idx="1">
                  <c:v>Условия</c:v>
                </c:pt>
                <c:pt idx="2">
                  <c:v>Категория</c:v>
                </c:pt>
                <c:pt idx="3">
                  <c:v>Сила профиля</c:v>
                </c:pt>
                <c:pt idx="4">
                  <c:v>Навыки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D145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E5E1E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1C1D2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35.0"/>
          <c:min val="0.0"/>
        </c:scaling>
        <c:delete/>
        <c:axPos val="b"/>
        <c:majorGridlines>
          <c:spPr>
            <a:ln w="6350" cap="flat" cmpd="sng" algn="ctr">
              <a:solidFill>
                <a:srgbClr val="E5E1EF"/>
              </a:solidFill>
              <a:round/>
            </a:ln>
            <a:effectLst/>
          </c:spPr>
        </c:majorGridlines>
        <c:numFmt formatCode="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C1D2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0.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rgbClr val="1C1D22"/>
          </a:solidFill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Статистика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 cap="rnd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9-4320-A20C-3707168A026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63500" cap="rnd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9-4320-A20C-3707168A026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9-4320-A20C-3707168A0262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C9-4320-A20C-3707168A0262}"/>
              </c:ext>
            </c:extLst>
          </c:dPt>
          <c:dLbls>
            <c:dLbl>
              <c:idx val="2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0AC9-4320-A20C-3707168A0262}"/>
                </c:ext>
              </c:extLst>
            </c:dLbl>
            <c:dLbl>
              <c:idx val="3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0AC9-4320-A20C-3707168A0262}"/>
                </c:ext>
              </c:extLst>
            </c:dLbl>
            <c:spPr>
              <a:solidFill>
                <a:prstClr val="white">
                  <a:alpha val="10000"/>
                </a:prst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P@10</c:v>
                </c:pt>
              </c:strCache>
            </c:strRef>
          </c:tx>
          <c:dPt>
            <c:idx val="0"/>
            <c:spPr>
              <a:solidFill>
                <a:srgbClr val="8A83D1"/>
              </a:solidFill>
              <a:ln>
                <a:noFill/>
              </a:ln>
            </c:spPr>
          </c:dPt>
          <c:dPt>
            <c:idx val="1"/>
            <c:spPr>
              <a:solidFill>
                <a:srgbClr val="8A83D1"/>
              </a:solidFill>
              <a:ln>
                <a:noFill/>
              </a:ln>
            </c:spPr>
          </c:dPt>
          <c:dPt>
            <c:idx val="2"/>
            <c:spPr>
              <a:solidFill>
                <a:srgbClr val="8A83D1"/>
              </a:solidFill>
              <a:ln>
                <a:noFill/>
              </a:ln>
            </c:spPr>
          </c:dPt>
          <c:dPt>
            <c:idx val="3"/>
            <c:spPr>
              <a:solidFill>
                <a:srgbClr val="FF0053"/>
              </a:solidFill>
              <a:ln>
                <a:noFill/>
              </a:ln>
            </c:spPr>
          </c:dPt>
          <c:dPt>
            <c:idx val="4"/>
            <c:spPr>
              <a:solidFill>
                <a:srgbClr val="FF0053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Поиск по ключевым словам</c:v>
                </c:pt>
                <c:pt idx="1">
                  <c:v>Категория из резюме (абляция)</c:v>
                </c:pt>
                <c:pt idx="2">
                  <c:v>Фильтры по самоописанию</c:v>
                </c:pt>
                <c:pt idx="3">
                  <c:v>ФСП Карьера: текст → NLP</c:v>
                </c:pt>
                <c:pt idx="4">
                  <c:v>ФСП Карьера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73</c:v>
                </c:pt>
                <c:pt idx="2">
                  <c:v>74</c:v>
                </c:pt>
                <c:pt idx="3">
                  <c:v>84</c:v>
                </c:pt>
                <c:pt idx="4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2D145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5E1EF"/>
            </a:solidFill>
          </a:ln>
        </c:spPr>
        <c:txPr>
          <a:bodyPr/>
          <a:lstStyle/>
          <a:p>
            <a:pPr>
              <a:defRPr sz="1100">
                <a:solidFill>
                  <a:srgbClr val="1C1D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6350">
              <a:solidFill>
                <a:srgbClr val="E5E1EF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1C1D22"/>
                </a:solidFill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100">
          <a:solidFill>
            <a:srgbClr val="1C1D22"/>
          </a:solidFill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Участники, роли и контакты. Заполните ФИО, роли, мессенджеры, телефоны и место учёбы или работы; фото вставляются в круглые рамки карточек.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История команды — заполните. Почему задача: измеримость результата. Главные сложности — отсутствие разметки, компромисс «утечки против сопоставимой сложности» и качество подбора, которое мы доказали валидацией.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Персональные данные под контролем кандидата: согласия, видимость, выгрузка и удаление. Работодателя ограничивают лимиты, индекс доверия и жалобы.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— команда «…». Наше решение для задачи ФСП — платформа «ФСП Карьера»: подбор ИТ-специалистов с обратной механикой, где уровень подтверждает тест, а инициатива — у работодателя.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Кратко о команде (заполните поля) и суть решения: обратная механика найма на основе подтверждённого уровня.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Техническая суть — адаптивный тест и объяснимый подбор; маркетинговая — ценность для каждой из трёх сторон.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Дальше — по рекомендуемой структуре: описание решения и механик, маркетинг, бизнес, техника, уникальность и планы.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 — резюме не доказывает квалификацию. Существующие подходы либо доверяют самоописанию, либо дают тест, который утекает. Мы подтверждаем уровень тестом, устойчивым к утечкам, и меняем направление инициативы.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Кандидат проходит опрос и адаптивный тест; задания подстраиваются под уровень, у каждого свои данные и свой код. На выходе — категория, профиль компетенций и понятные правила пересдачи.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Работодатель пишет потребность обычным текстом. Система показывает подходящие категории с рынком и ранжированных кандидатов с объяснением, а дальше — приглашение с вилкой конкретному человеку.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 к устойчивости — семейства: структура задания и трудность фиксированы, а данные и ответ у каждого свои. Общая шкала IRT делает результаты сопоставимыми, адаптивный алгоритм — коротким тест, детекторы ловят списывание.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Эксперимент: нечестный кандидат знает все задания K предыдущих участников. Фиксированный тест завышают 96%, у нас незамеченное завышение остаётся на уровне честного прохождения — около 11%: списанное либо не подходит к своему варианту, либо помечается детектором и уходит на перепроверку.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Выдача строится только из категорий, подтверждённых тестом. Внутри — пять понятных компонент; навыки проверяются тестом на уровне требований, а каждая карточка объясняет, почему кандидат в подборке.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Готовой разметки нет, поэтому мы проверяем на популяции с известной истиной — тем же кодом, что в продукте. Подбор точнее фильтров по резюме, тест почти не завышает грейд, результат стабилен при пересдаче, а утечка базы не даёт незаметного преимущества.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вклад в качество даёт категория по тесту: стоит заменить её самоописанием — и точность падает, а «завысивших себя» в топе становится в семь раз больше. Абляции мы показываем честно.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Профиль связывается с ФСП ID по OpenID Connect — так же, как будет работать ФСП ID на Keycloak. Из реестра приходят достижения с протоколами; работодатель видит их в карточке. Нет истории — нет штрафа.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аудитории и для каждой — своя ценность. Кандидатам — доказанный уровень и честные условия, работодателям — экономия времени технических специалистов, ФСП — карьерный трек для участников.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Модель простая: кандидатам бесплатно, монетизация — на стороне работодателя. Конкретные цены — предмет пилота; ключевая метрика — стоимость найма против времени технических специалистов.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Модульный монолит: API, тестирование, подбор, NLP и интеграции — отдельные слои; ядро теста не зависит от БД и используется в валидации. Всё поднимается одной командой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Интерфейс адаптивный: оба кабинета и тест работают на телефоне без горизонтальной прокрутки.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Отличие — в трёх вещах: уровень подтверждает тест, инициатива у работодателя, условия видны сразу. И всё это объяснимо для обеих сторон.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Ближайший шаг — пилот с ФСП: реальный ФСП ID, экспертная проверка грейдов и калибровка банка на живых ответах. Дальше — рост банка, интеграции с ATS и обучение ранжирования на исходах найма.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Спасибо! Стенд поднимается одной командой, демо-аккаунты — на слайде.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0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1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notesSlide" Target="../notesSlides/notesSlide20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71D12-3714-B06A-0577-F3D4102D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9876B67-14B1-4E84-3099-066486C6A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63" name="Текст 62">
            <a:extLst>
              <a:ext uri="{FF2B5EF4-FFF2-40B4-BE49-F238E27FC236}">
                <a16:creationId xmlns:a16="http://schemas.microsoft.com/office/drawing/2014/main" id="{ADEEF28E-2EFD-2887-33BC-A51A865CDD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28561" y="2649897"/>
            <a:ext cx="1817355" cy="816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Подробное описание решения</a:t>
            </a:r>
          </a:p>
        </p:txBody>
      </p:sp>
      <p:sp>
        <p:nvSpPr>
          <p:cNvPr id="64" name="Текст 63">
            <a:extLst>
              <a:ext uri="{FF2B5EF4-FFF2-40B4-BE49-F238E27FC236}">
                <a16:creationId xmlns:a16="http://schemas.microsoft.com/office/drawing/2014/main" id="{06F65EAF-71EA-EB12-2CA8-42F074D6F35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110879" y="2649897"/>
            <a:ext cx="1850919" cy="776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Маркетинговая часть решения</a:t>
            </a:r>
          </a:p>
        </p:txBody>
      </p:sp>
      <p:sp>
        <p:nvSpPr>
          <p:cNvPr id="65" name="Текст 64">
            <a:extLst>
              <a:ext uri="{FF2B5EF4-FFF2-40B4-BE49-F238E27FC236}">
                <a16:creationId xmlns:a16="http://schemas.microsoft.com/office/drawing/2014/main" id="{559C91FD-3F61-16BE-39A8-1F84603E2F5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3198" y="2649897"/>
            <a:ext cx="1830508" cy="816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Бизнесовая составляющая решения</a:t>
            </a:r>
          </a:p>
        </p:txBody>
      </p:sp>
      <p:sp>
        <p:nvSpPr>
          <p:cNvPr id="66" name="Текст 65">
            <a:extLst>
              <a:ext uri="{FF2B5EF4-FFF2-40B4-BE49-F238E27FC236}">
                <a16:creationId xmlns:a16="http://schemas.microsoft.com/office/drawing/2014/main" id="{415F79D2-ED3E-5274-C2DB-D14A1FD9A57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528562" y="4757145"/>
            <a:ext cx="1817354" cy="800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Техническая проработка решения</a:t>
            </a:r>
          </a:p>
        </p:txBody>
      </p:sp>
      <p:sp>
        <p:nvSpPr>
          <p:cNvPr id="67" name="Текст 66">
            <a:extLst>
              <a:ext uri="{FF2B5EF4-FFF2-40B4-BE49-F238E27FC236}">
                <a16:creationId xmlns:a16="http://schemas.microsoft.com/office/drawing/2014/main" id="{6E9FB7CA-5AB2-E9B1-1BFB-3C9FB4EF320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078087" y="4757145"/>
            <a:ext cx="1883712" cy="800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Уникальность решения</a:t>
            </a:r>
          </a:p>
        </p:txBody>
      </p:sp>
      <p:sp>
        <p:nvSpPr>
          <p:cNvPr id="68" name="Текст 66">
            <a:extLst>
              <a:ext uri="{FF2B5EF4-FFF2-40B4-BE49-F238E27FC236}">
                <a16:creationId xmlns:a16="http://schemas.microsoft.com/office/drawing/2014/main" id="{D7322734-CD2C-FFD1-5414-A04B3FFA0E9E}"/>
              </a:ext>
            </a:extLst>
          </p:cNvPr>
          <p:cNvSpPr txBox="1">
            <a:spLocks/>
          </p:cNvSpPr>
          <p:nvPr/>
        </p:nvSpPr>
        <p:spPr>
          <a:xfrm>
            <a:off x="6659232" y="4757145"/>
            <a:ext cx="1864473" cy="8006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Планы </a:t>
            </a:r>
            <a:br>
              <a:rPr lang="ru-RU" sz="1600" dirty="0">
                <a:solidFill>
                  <a:schemeClr val="tx1"/>
                </a:solidFill>
              </a:rPr>
            </a:br>
            <a:r>
              <a:rPr lang="ru-RU" sz="1600" dirty="0">
                <a:solidFill>
                  <a:schemeClr val="tx1"/>
                </a:solidFill>
              </a:rPr>
              <a:t>по развитию решения</a:t>
            </a:r>
          </a:p>
        </p:txBody>
      </p:sp>
      <p:sp>
        <p:nvSpPr>
          <p:cNvPr id="69" name="Заголовок 1">
            <a:extLst>
              <a:ext uri="{FF2B5EF4-FFF2-40B4-BE49-F238E27FC236}">
                <a16:creationId xmlns:a16="http://schemas.microsoft.com/office/drawing/2014/main" id="{FE4D3CAE-6C98-9A12-8DB3-C465255EB270}"/>
              </a:ext>
            </a:extLst>
          </p:cNvPr>
          <p:cNvSpPr txBox="1">
            <a:spLocks/>
          </p:cNvSpPr>
          <p:nvPr/>
        </p:nvSpPr>
        <p:spPr>
          <a:xfrm>
            <a:off x="1542416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01</a:t>
            </a:r>
          </a:p>
        </p:txBody>
      </p:sp>
      <p:sp>
        <p:nvSpPr>
          <p:cNvPr id="70" name="Заголовок 1">
            <a:extLst>
              <a:ext uri="{FF2B5EF4-FFF2-40B4-BE49-F238E27FC236}">
                <a16:creationId xmlns:a16="http://schemas.microsoft.com/office/drawing/2014/main" id="{8D591A99-FA62-E4B6-074B-DE7DFC2747DA}"/>
              </a:ext>
            </a:extLst>
          </p:cNvPr>
          <p:cNvSpPr txBox="1">
            <a:spLocks/>
          </p:cNvSpPr>
          <p:nvPr/>
        </p:nvSpPr>
        <p:spPr>
          <a:xfrm>
            <a:off x="4110879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02</a:t>
            </a:r>
          </a:p>
        </p:txBody>
      </p:sp>
      <p:sp>
        <p:nvSpPr>
          <p:cNvPr id="71" name="Заголовок 1">
            <a:extLst>
              <a:ext uri="{FF2B5EF4-FFF2-40B4-BE49-F238E27FC236}">
                <a16:creationId xmlns:a16="http://schemas.microsoft.com/office/drawing/2014/main" id="{8493554C-62E8-20EA-4083-B4BCDE05B4D9}"/>
              </a:ext>
            </a:extLst>
          </p:cNvPr>
          <p:cNvSpPr txBox="1">
            <a:spLocks/>
          </p:cNvSpPr>
          <p:nvPr/>
        </p:nvSpPr>
        <p:spPr>
          <a:xfrm>
            <a:off x="6718121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03</a:t>
            </a:r>
          </a:p>
        </p:txBody>
      </p:sp>
      <p:sp>
        <p:nvSpPr>
          <p:cNvPr id="72" name="Заголовок 1">
            <a:extLst>
              <a:ext uri="{FF2B5EF4-FFF2-40B4-BE49-F238E27FC236}">
                <a16:creationId xmlns:a16="http://schemas.microsoft.com/office/drawing/2014/main" id="{F9A8CFF1-8555-6D47-3883-A979EED95298}"/>
              </a:ext>
            </a:extLst>
          </p:cNvPr>
          <p:cNvSpPr txBox="1">
            <a:spLocks/>
          </p:cNvSpPr>
          <p:nvPr/>
        </p:nvSpPr>
        <p:spPr>
          <a:xfrm>
            <a:off x="1542416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04</a:t>
            </a:r>
          </a:p>
        </p:txBody>
      </p:sp>
      <p:sp>
        <p:nvSpPr>
          <p:cNvPr id="73" name="Заголовок 1">
            <a:extLst>
              <a:ext uri="{FF2B5EF4-FFF2-40B4-BE49-F238E27FC236}">
                <a16:creationId xmlns:a16="http://schemas.microsoft.com/office/drawing/2014/main" id="{8B14DCEC-C467-3FB8-B94E-B4598531C225}"/>
              </a:ext>
            </a:extLst>
          </p:cNvPr>
          <p:cNvSpPr txBox="1">
            <a:spLocks/>
          </p:cNvSpPr>
          <p:nvPr/>
        </p:nvSpPr>
        <p:spPr>
          <a:xfrm>
            <a:off x="4110879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05</a:t>
            </a:r>
          </a:p>
        </p:txBody>
      </p:sp>
      <p:sp>
        <p:nvSpPr>
          <p:cNvPr id="74" name="Заголовок 1">
            <a:extLst>
              <a:ext uri="{FF2B5EF4-FFF2-40B4-BE49-F238E27FC236}">
                <a16:creationId xmlns:a16="http://schemas.microsoft.com/office/drawing/2014/main" id="{FEDC5416-04B2-9C00-62A0-708AA22886DF}"/>
              </a:ext>
            </a:extLst>
          </p:cNvPr>
          <p:cNvSpPr txBox="1">
            <a:spLocks/>
          </p:cNvSpPr>
          <p:nvPr/>
        </p:nvSpPr>
        <p:spPr>
          <a:xfrm>
            <a:off x="6718121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06</a:t>
            </a:r>
          </a:p>
        </p:txBody>
      </p:sp>
      <p:sp>
        <p:nvSpPr>
          <p:cNvPr id="4" name="Текст 62">
            <a:extLst>
              <a:ext uri="{FF2B5EF4-FFF2-40B4-BE49-F238E27FC236}">
                <a16:creationId xmlns:a16="http://schemas.microsoft.com/office/drawing/2014/main" id="{CB9AA357-72FF-E44D-217D-FF4B276EFA1B}"/>
              </a:ext>
            </a:extLst>
          </p:cNvPr>
          <p:cNvSpPr txBox="1">
            <a:spLocks/>
          </p:cNvSpPr>
          <p:nvPr/>
        </p:nvSpPr>
        <p:spPr>
          <a:xfrm>
            <a:off x="1260867" y="1186647"/>
            <a:ext cx="7315200" cy="4490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ru-RU" sz="1600" b="1">
                <a:solidFill>
                  <a:schemeClr val="tx1"/>
                </a:solidFill>
                <a:latin typeface="+mj-lt"/>
              </a:rPr>
              <a:t>Шесть разделов по рекомендуемой структуре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007DB65E-C015-AD4B-89DB-F9D3AC626890}"/>
              </a:ext>
            </a:extLst>
          </p:cNvPr>
          <p:cNvSpPr/>
          <p:nvPr/>
        </p:nvSpPr>
        <p:spPr>
          <a:xfrm>
            <a:off x="3904439" y="1793495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0A05E9E-8AD7-0239-43DE-88F10CEED428}"/>
              </a:ext>
            </a:extLst>
          </p:cNvPr>
          <p:cNvSpPr/>
          <p:nvPr/>
        </p:nvSpPr>
        <p:spPr>
          <a:xfrm>
            <a:off x="6499358" y="1793495"/>
            <a:ext cx="2360141" cy="1876461"/>
          </a:xfrm>
          <a:prstGeom prst="roundRect">
            <a:avLst>
              <a:gd name="adj" fmla="val 9821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3FA0D8C-889D-F067-D5F5-B7E978E24094}"/>
              </a:ext>
            </a:extLst>
          </p:cNvPr>
          <p:cNvSpPr/>
          <p:nvPr/>
        </p:nvSpPr>
        <p:spPr>
          <a:xfrm>
            <a:off x="1346590" y="1793495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D020AD0E-B364-26E0-024D-AA2C32869C6A}"/>
              </a:ext>
            </a:extLst>
          </p:cNvPr>
          <p:cNvSpPr/>
          <p:nvPr/>
        </p:nvSpPr>
        <p:spPr>
          <a:xfrm>
            <a:off x="3904439" y="3844716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C9FC5005-AAB0-430A-23AB-B453FF909390}"/>
              </a:ext>
            </a:extLst>
          </p:cNvPr>
          <p:cNvSpPr/>
          <p:nvPr/>
        </p:nvSpPr>
        <p:spPr>
          <a:xfrm>
            <a:off x="6499358" y="3844716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2F058847-5D47-EE23-7E00-5CDDC807EBB5}"/>
              </a:ext>
            </a:extLst>
          </p:cNvPr>
          <p:cNvSpPr/>
          <p:nvPr/>
        </p:nvSpPr>
        <p:spPr>
          <a:xfrm>
            <a:off x="1346590" y="3844716"/>
            <a:ext cx="2360141" cy="1876461"/>
          </a:xfrm>
          <a:prstGeom prst="roundRect">
            <a:avLst>
              <a:gd name="adj" fmla="val 9821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F22661D-EAE1-0D17-F4E9-421BC302E292}"/>
              </a:ext>
            </a:extLst>
          </p:cNvPr>
          <p:cNvSpPr/>
          <p:nvPr/>
        </p:nvSpPr>
        <p:spPr>
          <a:xfrm>
            <a:off x="947738" y="407926"/>
            <a:ext cx="4381500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6D6FB13-8737-86E7-E0B4-C9C48BFC91A6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7262838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pPr/>
            <a:r>
              <a:rPr lang="ru-RU" sz="2000">
                <a:solidFill>
                  <a:schemeClr val="bg1"/>
                </a:solidFill>
                <a:latin typeface="+mn-lt"/>
              </a:rPr>
              <a:t>ПРЕЗЕНТАЦИЯ РЕШЕНИЯ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52430" y="206781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ru-RU" sz="1000">
                <a:solidFill>
                  <a:srgbClr val="8A83D1"/>
                </a:solidFill>
              </a:rPr>
              <a:t>слайды 7–15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10279" y="206781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ru-RU" sz="1000">
                <a:solidFill>
                  <a:srgbClr val="8A83D1"/>
                </a:solidFill>
              </a:rPr>
              <a:t>слайд 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05198" y="206781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ru-RU" sz="1000">
                <a:solidFill>
                  <a:srgbClr val="8A83D1"/>
                </a:solidFill>
              </a:rPr>
              <a:t>слайд 17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52430" y="41190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ru-RU" sz="1000">
                <a:solidFill>
                  <a:srgbClr val="8A83D1"/>
                </a:solidFill>
              </a:rPr>
              <a:t>слайды 18–20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10279" y="41190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ru-RU" sz="1000">
                <a:solidFill>
                  <a:srgbClr val="8A83D1"/>
                </a:solidFill>
              </a:rPr>
              <a:t>слайд 21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05198" y="41190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ru-RU" sz="1000">
                <a:solidFill>
                  <a:srgbClr val="8A83D1"/>
                </a:solidFill>
              </a:rPr>
              <a:t>слайд 22</a:t>
            </a:r>
          </a:p>
        </p:txBody>
      </p:sp>
    </p:spTree>
    <p:extLst>
      <p:ext uri="{BB962C8B-B14F-4D97-AF65-F5344CB8AC3E}">
        <p14:creationId xmlns:p14="http://schemas.microsoft.com/office/powerpoint/2010/main" val="1986979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lnSpc>
                <a:spcPct val="100000"/>
              </a:lnSpc>
            </a:pPr>
            <a:r>
              <a:rPr lang="ru-RU" sz="4400" b="1"/>
              <a:t>ФСП Карьера</a:t>
            </a:r>
          </a:p>
          <a:p>
            <a:pPr marL="268288" indent="0">
              <a:lnSpc>
                <a:spcPct val="100000"/>
              </a:lnSpc>
            </a:pPr>
            <a:r>
              <a:rPr lang="ru-RU" sz="2000" b="0">
                <a:solidFill>
                  <a:srgbClr val="FFD6E3"/>
                </a:solidFill>
              </a:rPr>
              <a:t>Команда «Название команды»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/>
          </a:bodyPr>
          <a:lstStyle/>
          <a:p>
            <a:pPr marL="271463" indent="-3175"/>
            <a:r>
              <a:rPr lang="ru-RU"/>
              <a:t>Задача ФСП: цифровая платформа-агрегатор ИТ-вакансий с верифицированным профилем достижений участника Федерации спортивного программирования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2" name="Рисунок 1" descr="landing_10_2.173.pn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4" r="24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137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200">
                <a:solidFill>
                  <a:schemeClr val="tx1"/>
                </a:solidFill>
              </a:rPr>
              <a:t>Тест, устойчивый к утечкам: у каждого кандидата свои варианты заданий при одинаковой сложности (IRT). Категория — по тесту, а не по резюме; достижения ФСП усиливают профиль, а их отсутствие не штрафует.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 b="1">
                <a:solidFill>
                  <a:schemeClr val="tx1"/>
                </a:solidFill>
              </a:rPr>
              <a:t>[ФИО, специальность]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Участников: </a:t>
            </a:r>
            <a:r>
              <a:rPr lang="ru-RU" b="1">
                <a:solidFill>
                  <a:schemeClr val="tx1"/>
                </a:solidFill>
              </a:rPr>
              <a:t>[N человек]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О команде: </a:t>
            </a:r>
            <a:r>
              <a:rPr lang="ru-RU" b="1">
                <a:solidFill>
                  <a:schemeClr val="tx1"/>
                </a:solidFill>
              </a:rPr>
              <a:t>[как собралась команда, место учёбы или работы]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Город и регион: </a:t>
            </a:r>
            <a:r>
              <a:rPr lang="ru-RU" b="1">
                <a:solidFill>
                  <a:schemeClr val="tx1"/>
                </a:solidFill>
              </a:rPr>
              <a:t>[город, регион]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pPr/>
            <a:r>
              <a:rPr lang="ru-RU" sz="2000">
                <a:solidFill>
                  <a:srgbClr val="2D1451"/>
                </a:solidFill>
              </a:rPr>
              <a:t>О команде и решении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16002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200">
                <a:solidFill>
                  <a:schemeClr val="tx1"/>
                </a:solidFill>
              </a:rPr>
              <a:t>ФСП Карьера — платформа подбора ИТ-специалистов с обратной механикой: кандидат подтверждает уровень адаптивным тестом и получает категорию, работодатель находит категорию и сам приглашает конкретного человека — с вилкой зарплаты. Контакты открываются после согласия кандидата.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74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3724148" cy="402336"/>
          </a:xfrm>
        </p:spPr>
        <p:txBody>
          <a:bodyPr wrap="none"/>
          <a:lstStyle/>
          <a:p>
            <a:pPr/>
            <a:r>
              <a:rPr lang="ru-RU"/>
              <a:t>КОМАНДА «НАЗВАНИЕ»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35965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3131057" cy="402336"/>
          </a:xfrm>
        </p:spPr>
        <p:txBody>
          <a:bodyPr wrap="none"/>
          <a:lstStyle/>
          <a:p>
            <a:pPr/>
            <a:r>
              <a:rPr lang="ru-RU"/>
              <a:t>КАК МЫ РАБОТАЛИ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>
                <a:solidFill>
                  <a:schemeClr val="tx1"/>
                </a:solidFill>
              </a:rPr>
              <a:t>[Как собралась команда, в каких хакатонах и проектах участвовали вместе, интересные факты]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10241280" cy="11887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>
                <a:solidFill>
                  <a:schemeClr val="tx1"/>
                </a:solidFill>
              </a:rPr>
              <a:t>1) Нет эталонных данных → синтетическая популяция с известной «истиной» для проверки теста и подбора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>
                <a:solidFill>
                  <a:schemeClr val="tx1"/>
                </a:solidFill>
              </a:rPr>
              <a:t>2) Утечки против сопоставимости → семейства заданий с уникальными вариантами на общей шкале IRT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>
                <a:solidFill>
                  <a:schemeClr val="tx1"/>
                </a:solidFill>
              </a:rPr>
              <a:t>3) Первые версии подбора уступали фильтрам → разобрали ошибки и довели P@10 до 0,85 против 0,74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1024128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>
                <a:solidFill>
                  <a:schemeClr val="tx1"/>
                </a:solidFill>
              </a:rPr>
              <a:t>Задача соединяет психометрику (как честно измерить навык), ML и NLP для подбора и продуктовую механику найма — и её результат можно доказать числами, построив собственную процедуру валидации.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1398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ru-RU" sz="1500">
                <a:solidFill>
                  <a:schemeClr val="tx1"/>
                </a:solidFill>
              </a:rPr>
              <a:t>Адаптивный тест на модели IRT (3PL): 359 семейств заданий, у каждого кандидата свои варианты</a:t>
            </a:r>
          </a:p>
          <a:p>
            <a:pPr>
              <a:spcAft>
                <a:spcPts val="1200"/>
              </a:spcAft>
            </a:pPr>
            <a:r>
              <a:rPr lang="ru-RU" sz="1500">
                <a:solidFill>
                  <a:schemeClr val="tx1"/>
                </a:solidFill>
              </a:rPr>
              <a:t>Категория = специализация × грейд по тесту; смена грейда — раз в 90 дней</a:t>
            </a:r>
          </a:p>
          <a:p>
            <a:pPr>
              <a:spcAft>
                <a:spcPts val="1200"/>
              </a:spcAft>
            </a:pPr>
            <a:r>
              <a:rPr lang="ru-RU" sz="1500">
                <a:solidFill>
                  <a:schemeClr val="tx1"/>
                </a:solidFill>
              </a:rPr>
              <a:t>Подбор: NLP-разбор вакансии → категории → ранжирование с объяснением</a:t>
            </a:r>
          </a:p>
          <a:p>
            <a:pPr>
              <a:spcAft>
                <a:spcPts val="1200"/>
              </a:spcAft>
            </a:pPr>
            <a:r>
              <a:rPr lang="ru-RU" sz="1500">
                <a:solidFill>
                  <a:schemeClr val="tx1"/>
                </a:solidFill>
              </a:rPr>
              <a:t>ФСП ID по OpenID Connect (пути Keycloak) и реестр достижений</a:t>
            </a:r>
          </a:p>
          <a:p>
            <a:pPr>
              <a:spcAft>
                <a:spcPts val="1200"/>
              </a:spcAft>
            </a:pPr>
            <a:r>
              <a:rPr lang="ru-RU" sz="1500">
                <a:solidFill>
                  <a:schemeClr val="tx1"/>
                </a:solidFill>
              </a:rPr>
              <a:t>FastAPI, PostgreSQL, React; Docker, 86 методов OpenAPI, 491 автотест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ru-RU" sz="1500">
                <a:solidFill>
                  <a:schemeClr val="tx1"/>
                </a:solidFill>
              </a:rPr>
              <a:t>Работодатель видит только кандидатов с подтверждённым уровнем и рынок категории до найма</a:t>
            </a:r>
          </a:p>
          <a:p>
            <a:pPr>
              <a:spcAft>
                <a:spcPts val="1200"/>
              </a:spcAft>
            </a:pPr>
            <a:r>
              <a:rPr lang="ru-RU" sz="1500">
                <a:solidFill>
                  <a:schemeClr val="tx1"/>
                </a:solidFill>
              </a:rPr>
              <a:t>Кандидат получает предложения с вилкой до начала общения — без откликов вслепую</a:t>
            </a:r>
          </a:p>
          <a:p>
            <a:pPr>
              <a:spcAft>
                <a:spcPts val="1200"/>
              </a:spcAft>
            </a:pPr>
            <a:r>
              <a:rPr lang="ru-RU" sz="1500">
                <a:solidFill>
                  <a:schemeClr val="tx1"/>
                </a:solidFill>
              </a:rPr>
              <a:t>ФСП получает канал трудоустройства участников и аргумент для вовлечения в соревнования</a:t>
            </a:r>
          </a:p>
          <a:p>
            <a:pPr>
              <a:spcAft>
                <a:spcPts val="1200"/>
              </a:spcAft>
            </a:pPr>
            <a:r>
              <a:rPr lang="ru-RU" sz="1500">
                <a:solidFill>
                  <a:schemeClr val="tx1"/>
                </a:solidFill>
              </a:rPr>
              <a:t>Развитие: пилот с ФСП и партнёрами, ATS-интеграции, тарифы для компаний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3485388" cy="402336"/>
          </a:xfrm>
        </p:spPr>
        <p:txBody>
          <a:bodyPr wrap="none"/>
          <a:lstStyle/>
          <a:p>
            <a:pPr/>
            <a:r>
              <a:rPr lang="ru-RU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pPr marL="228600" indent="-228600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 b="1">
                <a:solidFill>
                  <a:srgbClr val="2D1451"/>
                </a:solidFill>
              </a:rPr>
              <a:t>Демо: </a:t>
            </a:r>
            <a:r>
              <a:rPr lang="ru-RU" sz="1400">
                <a:solidFill>
                  <a:srgbClr val="1C1D22"/>
                </a:solidFill>
              </a:rPr>
              <a:t>docker compose up --build → http://localhost:8080</a:t>
            </a:r>
          </a:p>
          <a:p>
            <a:pPr marL="228600" indent="-228600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 b="1">
                <a:solidFill>
                  <a:srgbClr val="2D1451"/>
                </a:solidFill>
              </a:rPr>
              <a:t>Репозиторий: </a:t>
            </a:r>
            <a:r>
              <a:rPr lang="ru-RU" sz="1400">
                <a:solidFill>
                  <a:srgbClr val="1C1D22"/>
                </a:solidFill>
              </a:rPr>
              <a:t>[ссылка на репозиторий]</a:t>
            </a:r>
          </a:p>
          <a:p>
            <a:pPr marL="228600" indent="-228600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 b="1">
                <a:solidFill>
                  <a:srgbClr val="2D1451"/>
                </a:solidFill>
              </a:rPr>
              <a:t>Документация: </a:t>
            </a:r>
            <a:r>
              <a:rPr lang="ru-RU" sz="1400">
                <a:solidFill>
                  <a:srgbClr val="1C1D22"/>
                </a:solidFill>
              </a:rPr>
              <a:t>docs/fsp-career-documentation.pdf</a:t>
            </a:r>
          </a:p>
          <a:p>
            <a:pPr marL="228600" indent="-228600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 b="1">
                <a:solidFill>
                  <a:srgbClr val="2D1451"/>
                </a:solidFill>
              </a:rPr>
              <a:t>Демо-аккаунты </a:t>
            </a:r>
            <a:r>
              <a:rPr lang="ru-RU" sz="1400">
                <a:solidFill>
                  <a:srgbClr val="1C1D22"/>
                </a:solidFill>
              </a:rPr>
              <a:t>(пароль demo12345): employer@demo.ru, candidate@demo.ru, newbie@demo.ru</a:t>
            </a:r>
          </a:p>
          <a:p>
            <a:pPr marL="228600" indent="-228600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 b="1">
                <a:solidFill>
                  <a:srgbClr val="2D1451"/>
                </a:solidFill>
              </a:rPr>
              <a:t>ФСП ID (тестовый): </a:t>
            </a:r>
            <a:r>
              <a:rPr lang="ru-RU" sz="1400">
                <a:solidFill>
                  <a:srgbClr val="1C1D22"/>
                </a:solidFill>
              </a:rPr>
              <a:t>alice / gleb, пароль fsp12345</a:t>
            </a:r>
          </a:p>
          <a:p>
            <a:pPr marL="228600" indent="-228600">
              <a:spcAft>
                <a:spcPts val="10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 b="1">
                <a:solidFill>
                  <a:srgbClr val="2D1451"/>
                </a:solidFill>
              </a:rPr>
              <a:t>Контакты команды: </a:t>
            </a:r>
            <a:r>
              <a:rPr lang="ru-RU" sz="1400">
                <a:solidFill>
                  <a:srgbClr val="1C1D22"/>
                </a:solidFill>
              </a:rPr>
              <a:t>[Telegram капитана]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pPr/>
            <a:r>
              <a:rPr lang="ru-RU" sz="2800">
                <a:solidFill>
                  <a:srgbClr val="2D1451"/>
                </a:solidFill>
              </a:rPr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18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7315200" cy="552061"/>
          </a:xfrm>
        </p:spPr>
        <p:txBody>
          <a:bodyPr/>
          <a:lstStyle/>
          <a:p>
            <a:pPr/>
            <a:r>
              <a:rPr lang="ru-RU"/>
              <a:t>04 · ТЕХНИЧЕСКАЯ ПРОРАБОТКА</a:t>
            </a:r>
          </a:p>
        </p:txBody>
      </p:sp>
      <p:pic>
        <p:nvPicPr>
          <p:cNvPr id="22" name="Picture 21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50588"/>
            <a:ext cx="7863840" cy="43706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32520" y="16916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2600" b="1">
                <a:solidFill>
                  <a:srgbClr val="FF0053"/>
                </a:solidFill>
              </a:rPr>
              <a:t>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1488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1100">
                <a:solidFill>
                  <a:srgbClr val="1C1D22"/>
                </a:solidFill>
              </a:rPr>
              <a:t>методов API, OpenAPI / Swagger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7889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2600" b="1">
                <a:solidFill>
                  <a:srgbClr val="FF0053"/>
                </a:solidFill>
              </a:rPr>
              <a:t>491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2461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1100">
                <a:solidFill>
                  <a:srgbClr val="1C1D22"/>
                </a:solidFill>
              </a:rPr>
              <a:t>автотест: банк заданий, сквозной сценарий, видимость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886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2600" b="1">
                <a:solidFill>
                  <a:srgbClr val="FF0053"/>
                </a:solidFill>
              </a:rPr>
              <a:t>0,1 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3434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1100">
                <a:solidFill>
                  <a:srgbClr val="1C1D22"/>
                </a:solidFill>
              </a:rPr>
              <a:t>подборка по 700 кандидатам на стенде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98347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2600" b="1">
                <a:solidFill>
                  <a:srgbClr val="FF0053"/>
                </a:solidFill>
              </a:rPr>
              <a:t>1 команда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544067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1100">
                <a:solidFill>
                  <a:srgbClr val="1C1D22"/>
                </a:solidFill>
              </a:rPr>
              <a:t>docker compose up: 5 контейнеров, ≈ 2 ГБ RAM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20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846320" cy="415925"/>
          </a:xfrm>
        </p:spPr>
        <p:txBody>
          <a:bodyPr/>
          <a:lstStyle/>
          <a:p>
            <a:pPr/>
            <a:r>
              <a:rPr lang="ru-RU" sz="1800">
                <a:solidFill>
                  <a:srgbClr val="2D1451"/>
                </a:solidFill>
              </a:rPr>
              <a:t>04 · БЕЗОПАСНОСТЬ И ДОВЕРИЕ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200" b="1">
                <a:solidFill>
                  <a:srgbClr val="2D1451"/>
                </a:solidFill>
              </a:rPr>
              <a:t>152-ФЗ: </a:t>
            </a:r>
            <a:r>
              <a:rPr lang="ru-RU" sz="1200">
                <a:solidFill>
                  <a:srgbClr val="1C1D22"/>
                </a:solidFill>
              </a:rPr>
              <a:t>отдельные согласия на обработку и публикацию, журнал согласий, выгрузка и удаление данных.</a:t>
            </a:r>
          </a:p>
          <a:p>
            <a:pPr marL="228600" indent="-228600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200" b="1">
                <a:solidFill>
                  <a:srgbClr val="2D1451"/>
                </a:solidFill>
              </a:rPr>
              <a:t>Контакты скрыты </a:t>
            </a:r>
            <a:r>
              <a:rPr lang="ru-RU" sz="1200">
                <a:solidFill>
                  <a:srgbClr val="1C1D22"/>
                </a:solidFill>
              </a:rPr>
              <a:t>до принятия приглашения или отклика; по умолчанию — анонимный код вместо имени.</a:t>
            </a:r>
          </a:p>
          <a:p>
            <a:pPr marL="228600" indent="-228600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200" b="1">
                <a:solidFill>
                  <a:srgbClr val="2D1451"/>
                </a:solidFill>
              </a:rPr>
              <a:t>Защита доступа: </a:t>
            </a:r>
            <a:r>
              <a:rPr lang="ru-RU" sz="1200">
                <a:solidFill>
                  <a:srgbClr val="1C1D22"/>
                </a:solidFill>
              </a:rPr>
              <a:t>Argon2id для паролей, HMAC для кодов, JWT, лимиты попыток, проверка роли и владельца.</a:t>
            </a:r>
          </a:p>
          <a:p>
            <a:pPr marL="228600" indent="-228600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200" b="1">
                <a:solidFill>
                  <a:srgbClr val="2D1451"/>
                </a:solidFill>
              </a:rPr>
              <a:t>Недобросовестные работодатели: </a:t>
            </a:r>
            <a:r>
              <a:rPr lang="ru-RU" sz="1200">
                <a:solidFill>
                  <a:srgbClr val="1C1D22"/>
                </a:solidFill>
              </a:rPr>
              <a:t>лимит 60 приглашений в сутки, индекс доверия, жалобы, отказ от предложений ниже ожиданий.</a:t>
            </a:r>
          </a:p>
          <a:p>
            <a:pPr marL="228600" indent="-228600"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200" b="1">
                <a:solidFill>
                  <a:srgbClr val="2D1451"/>
                </a:solidFill>
              </a:rPr>
              <a:t>ATS: </a:t>
            </a:r>
            <a:r>
              <a:rPr lang="ru-RU" sz="1200">
                <a:solidFill>
                  <a:srgbClr val="1C1D22"/>
                </a:solidFill>
              </a:rPr>
              <a:t>webhook при принятии приглашения и при отклике.</a:t>
            </a:r>
          </a:p>
        </p:txBody>
      </p:sp>
      <p:pic>
        <p:nvPicPr>
          <p:cNvPr id="10" name="Picture 9" descr="priv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841898"/>
            <a:ext cx="5440680" cy="5539962"/>
          </a:xfrm>
          <a:prstGeom prst="roundRect">
            <a:avLst>
              <a:gd name="adj" fmla="val 4000"/>
            </a:avLst>
          </a:prstGeom>
        </p:spPr>
      </p:pic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илюля заголовка"/>
          <p:cNvSpPr/>
          <p:nvPr/>
        </p:nvSpPr>
        <p:spPr>
          <a:xfrm>
            <a:off x="347472" y="320040"/>
            <a:ext cx="4916678" cy="621792"/>
          </a:xfrm>
          <a:prstGeom prst="roundRect">
            <a:avLst>
              <a:gd name="adj" fmla="val 18706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29768"/>
            <a:ext cx="4688078" cy="402336"/>
          </a:xfrm>
        </p:spPr>
        <p:txBody>
          <a:bodyPr wrap="none"/>
          <a:lstStyle/>
          <a:p>
            <a:pPr/>
            <a:r>
              <a:rPr lang="ru-RU"/>
              <a:t>05 · УНИКАЛЬНОСТЬ РЕШЕНИЯ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3200400" cy="712587"/>
          </a:xfrm>
        </p:spPr>
        <p:txBody>
          <a:bodyPr anchor="ctr"/>
          <a:lstStyle/>
          <a:p>
            <a:pPr/>
            <a:r>
              <a:rPr lang="ru-RU" sz="1300" b="1">
                <a:solidFill>
                  <a:srgbClr val="2D1451"/>
                </a:solidFill>
              </a:rPr>
              <a:t>Чем подтверждается уровень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3200400" cy="712587"/>
          </a:xfrm>
        </p:spPr>
        <p:txBody>
          <a:bodyPr anchor="ctr"/>
          <a:lstStyle/>
          <a:p>
            <a:pPr/>
            <a:r>
              <a:rPr lang="ru-RU" sz="1300" b="1">
                <a:solidFill>
                  <a:srgbClr val="2D1451"/>
                </a:solidFill>
              </a:rPr>
              <a:t>Кто проявляет инициативу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3200400" cy="712587"/>
          </a:xfrm>
        </p:spPr>
        <p:txBody>
          <a:bodyPr anchor="ctr"/>
          <a:lstStyle/>
          <a:p>
            <a:pPr/>
            <a:r>
              <a:rPr lang="ru-RU" sz="1300" b="1">
                <a:solidFill>
                  <a:srgbClr val="2D1451"/>
                </a:solidFill>
              </a:rPr>
              <a:t>Когда видны условия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3200400" cy="712587"/>
          </a:xfrm>
        </p:spPr>
        <p:txBody>
          <a:bodyPr anchor="ctr"/>
          <a:lstStyle/>
          <a:p>
            <a:pPr/>
            <a:r>
              <a:rPr lang="ru-RU" sz="1300" b="1">
                <a:solidFill>
                  <a:srgbClr val="2D1451"/>
                </a:solidFill>
              </a:rPr>
              <a:t>Тест и утечки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3200400" cy="712587"/>
          </a:xfrm>
        </p:spPr>
        <p:txBody>
          <a:bodyPr anchor="ctr"/>
          <a:lstStyle/>
          <a:p>
            <a:pPr/>
            <a:r>
              <a:rPr lang="ru-RU" sz="1300" b="1">
                <a:solidFill>
                  <a:srgbClr val="2D1451"/>
                </a:solidFill>
              </a:rPr>
              <a:t>Объяснимость выдачи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21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86200" y="11887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1200" b="1">
                <a:solidFill>
                  <a:srgbClr val="5B6475"/>
                </a:solidFill>
              </a:rPr>
              <a:t>Универсальные площадки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11887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1200" b="1">
                <a:solidFill>
                  <a:srgbClr val="FF0053"/>
                </a:solidFill>
              </a:rPr>
              <a:t>ФСП Карьера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1695025"/>
            <a:ext cx="3566160" cy="712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lang="ru-RU" sz="1200">
                <a:solidFill>
                  <a:srgbClr val="5B6475"/>
                </a:solidFill>
              </a:rPr>
              <a:t>Самоописание в резюме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1695025"/>
            <a:ext cx="4023360" cy="712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lang="ru-RU" sz="1200" b="1">
                <a:solidFill>
                  <a:srgbClr val="1C1D22"/>
                </a:solidFill>
              </a:rPr>
              <a:t>Адаптивный тест на шкале IRT и достижения ФСП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2552035"/>
            <a:ext cx="3566160" cy="712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lang="ru-RU" sz="1200">
                <a:solidFill>
                  <a:srgbClr val="5B6475"/>
                </a:solidFill>
              </a:rPr>
              <a:t>Кандидат откликается вслепую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552035"/>
            <a:ext cx="4023360" cy="712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lang="ru-RU" sz="1200" b="1">
                <a:solidFill>
                  <a:srgbClr val="1C1D22"/>
                </a:solidFill>
              </a:rPr>
              <a:t>Работодатель приглашает конкретного человека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409044"/>
            <a:ext cx="3566160" cy="712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lang="ru-RU" sz="1200">
                <a:solidFill>
                  <a:srgbClr val="5B6475"/>
                </a:solidFill>
              </a:rPr>
              <a:t>Часто — после собеседования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409044"/>
            <a:ext cx="4023360" cy="712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lang="ru-RU" sz="1200" b="1">
                <a:solidFill>
                  <a:srgbClr val="1C1D22"/>
                </a:solidFill>
              </a:rPr>
              <a:t>Вилка в каждом приглашении до начала общения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4266053"/>
            <a:ext cx="3566160" cy="712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lang="ru-RU" sz="1200">
                <a:solidFill>
                  <a:srgbClr val="5B6475"/>
                </a:solidFill>
              </a:rPr>
              <a:t>Единый набор заданий быстро расходится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4266053"/>
            <a:ext cx="4023360" cy="712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lang="ru-RU" sz="1200" b="1">
                <a:solidFill>
                  <a:srgbClr val="1C1D22"/>
                </a:solidFill>
              </a:rPr>
              <a:t>Свой вариант каждому, детекторы списывания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5123063"/>
            <a:ext cx="3566160" cy="712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lang="ru-RU" sz="1200">
                <a:solidFill>
                  <a:srgbClr val="5B6475"/>
                </a:solidFill>
              </a:rPr>
              <a:t>Совпадение ключевых слов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5123063"/>
            <a:ext cx="4023360" cy="712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/>
            <a:r>
              <a:rPr lang="ru-RU" sz="1200" b="1">
                <a:solidFill>
                  <a:srgbClr val="1C1D22"/>
                </a:solidFill>
              </a:rPr>
              <a:t>Причины «за/против» и аналитика рынка категории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436295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476943"/>
            <a:ext cx="2284071" cy="423628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Точность подбора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220180"/>
            <a:ext cx="2284071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rgbClr val="1C1D22"/>
                </a:solidFill>
              </a:rPr>
              <a:t>Доля релевантных в топ-10. Фильтры по резюме — 0,74, поиск по ключевым словам — 0,27.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510717"/>
            <a:ext cx="2337416" cy="403756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Завышение грейда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225510"/>
            <a:ext cx="2337416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rgbClr val="1C1D22"/>
                </a:solidFill>
              </a:rPr>
              <a:t>Тест завышает грейд у 2,4% кандидатов, самооценка в резюме — у 36%. Грейд ±1 — 96%.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516817"/>
            <a:ext cx="2268537" cy="403913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Стабильность грейда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228044"/>
            <a:ext cx="2268537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rgbClr val="1C1D22"/>
                </a:solidFill>
              </a:rPr>
              <a:t>Взвешенная κ при повторном тесте с другими заданиями; дискриминативность D = 0,43.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476943"/>
            <a:ext cx="2263553" cy="423628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Незамеченное завышение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220179"/>
            <a:ext cx="2263553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rgbClr val="1C1D22"/>
                </a:solidFill>
              </a:rPr>
              <a:t>При «слитой» базе из 25 прохождений — уровень честного теста. Фиксированный тест — 96,5%.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4134358" cy="402336"/>
          </a:xfrm>
        </p:spPr>
        <p:txBody>
          <a:bodyPr wrap="none"/>
          <a:lstStyle/>
          <a:p>
            <a:pPr/>
            <a:r>
              <a:rPr lang="ru-RU"/>
              <a:t>01 · ВАЛИДАЦИЯ: ГЛАВНОЕ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680976"/>
            <a:ext cx="2286000" cy="640080"/>
          </a:xfrm>
        </p:spPr>
        <p:txBody>
          <a:bodyPr/>
          <a:lstStyle/>
          <a:p>
            <a:pPr/>
            <a:r>
              <a:rPr lang="ru-RU" sz="3400" b="1">
                <a:solidFill>
                  <a:srgbClr val="FF0053"/>
                </a:solidFill>
              </a:rPr>
              <a:t>0,85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674760"/>
            <a:ext cx="2286000" cy="640080"/>
          </a:xfrm>
        </p:spPr>
        <p:txBody>
          <a:bodyPr/>
          <a:lstStyle/>
          <a:p>
            <a:pPr/>
            <a:r>
              <a:rPr lang="ru-RU" sz="3400" b="1">
                <a:solidFill>
                  <a:srgbClr val="FF0053"/>
                </a:solidFill>
              </a:rPr>
              <a:t>2,4%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674603"/>
            <a:ext cx="2286000" cy="640080"/>
          </a:xfrm>
        </p:spPr>
        <p:txBody>
          <a:bodyPr/>
          <a:lstStyle/>
          <a:p>
            <a:pPr/>
            <a:r>
              <a:rPr lang="ru-RU" sz="3400" b="1">
                <a:solidFill>
                  <a:srgbClr val="FF0053"/>
                </a:solidFill>
              </a:rPr>
              <a:t>0,80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680976"/>
            <a:ext cx="2286000" cy="640080"/>
          </a:xfrm>
        </p:spPr>
        <p:txBody>
          <a:bodyPr/>
          <a:lstStyle/>
          <a:p>
            <a:pPr/>
            <a:r>
              <a:rPr lang="ru-RU" sz="3400" b="1">
                <a:solidFill>
                  <a:srgbClr val="FF0053"/>
                </a:solidFill>
              </a:rPr>
              <a:t>11,7%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1000">
                <a:solidFill>
                  <a:srgbClr val="FFD6E3"/>
                </a:solidFill>
              </a:rPr>
              <a:t>Monte-Carlo-валидация на синтетической популяции с известной истиной (1500 кандидатов; 900 × 60 пар) · воспроизводится: python -m validation.run_all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илюля заголовка"/>
          <p:cNvSpPr/>
          <p:nvPr/>
        </p:nvSpPr>
        <p:spPr>
          <a:xfrm>
            <a:off x="347472" y="320040"/>
            <a:ext cx="4610608" cy="621792"/>
          </a:xfrm>
          <a:prstGeom prst="roundRect">
            <a:avLst>
              <a:gd name="adj" fmla="val 18706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pPr/>
            <a:r>
              <a:rPr lang="ru-RU" sz="1600">
                <a:solidFill>
                  <a:srgbClr val="2D1451"/>
                </a:solidFill>
              </a:rPr>
              <a:t>Кандидаты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ru-RU" sz="1200">
                <a:solidFill>
                  <a:srgbClr val="1C1D22"/>
                </a:solidFill>
              </a:rPr>
              <a:t>Участники соревнований ФСП, студенты ИТ-вузов, разработчики уровня Junior–Senior.</a:t>
            </a:r>
          </a:p>
          <a:p>
            <a:pPr>
              <a:spcAft>
                <a:spcPts val="600"/>
              </a:spcAft>
            </a:pPr>
            <a:r>
              <a:rPr lang="ru-RU" sz="1200">
                <a:solidFill>
                  <a:srgbClr val="1C1D22"/>
                </a:solidFill>
              </a:rPr>
              <a:t>Ценность: подтверждённый уровень вместо резюме, предложения с вилкой, достижения ФСП как карьерный актив.</a:t>
            </a:r>
          </a:p>
          <a:p>
            <a:pPr>
              <a:spcAft>
                <a:spcPts val="600"/>
              </a:spcAft>
            </a:pPr>
            <a:r>
              <a:rPr lang="ru-RU" sz="1200">
                <a:solidFill>
                  <a:srgbClr val="1C1D22"/>
                </a:solidFill>
              </a:rPr>
              <a:t>Каналы: сообщество ФСП, соревнования, вузы-партнёры.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pPr/>
            <a:r>
              <a:rPr lang="ru-RU" sz="1600">
                <a:solidFill>
                  <a:srgbClr val="2D1451"/>
                </a:solidFill>
              </a:rPr>
              <a:t>Работодатели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ru-RU" sz="1200">
                <a:solidFill>
                  <a:srgbClr val="1C1D22"/>
                </a:solidFill>
              </a:rPr>
              <a:t>ИТ-компании и ИТ-подразделения, партнёры и спонсоры соревнований.</a:t>
            </a:r>
          </a:p>
          <a:p>
            <a:pPr>
              <a:spcAft>
                <a:spcPts val="600"/>
              </a:spcAft>
            </a:pPr>
            <a:r>
              <a:rPr lang="ru-RU" sz="1200">
                <a:solidFill>
                  <a:srgbClr val="1C1D22"/>
                </a:solidFill>
              </a:rPr>
              <a:t>Ценность: кандидаты с проверенным грейдом, рынок категории до найма, меньше часов техспециалистов на отбор.</a:t>
            </a:r>
          </a:p>
          <a:p>
            <a:pPr>
              <a:spcAft>
                <a:spcPts val="600"/>
              </a:spcAft>
            </a:pPr>
            <a:r>
              <a:rPr lang="ru-RU" sz="1200">
                <a:solidFill>
                  <a:srgbClr val="1C1D22"/>
                </a:solidFill>
              </a:rPr>
              <a:t>Каналы: партнёры ФСП, HR-сообщества, отраслевые события.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pPr/>
            <a:r>
              <a:rPr lang="ru-RU" sz="1600">
                <a:solidFill>
                  <a:srgbClr val="2D1451"/>
                </a:solidFill>
              </a:rPr>
              <a:t>ФСП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ru-RU" sz="1200">
                <a:solidFill>
                  <a:srgbClr val="1C1D22"/>
                </a:solidFill>
              </a:rPr>
              <a:t>Оператор и партнёр платформы.</a:t>
            </a:r>
          </a:p>
          <a:p>
            <a:pPr>
              <a:spcAft>
                <a:spcPts val="600"/>
              </a:spcAft>
            </a:pPr>
            <a:r>
              <a:rPr lang="ru-RU" sz="1200">
                <a:solidFill>
                  <a:srgbClr val="1C1D22"/>
                </a:solidFill>
              </a:rPr>
              <a:t>Ценность: канал трудоустройства участников, данные о востребованных навыках, новые партнёры.</a:t>
            </a:r>
          </a:p>
          <a:p>
            <a:pPr>
              <a:spcAft>
                <a:spcPts val="600"/>
              </a:spcAft>
            </a:pPr>
            <a:r>
              <a:rPr lang="ru-RU" sz="1200">
                <a:solidFill>
                  <a:srgbClr val="1C1D22"/>
                </a:solidFill>
              </a:rPr>
              <a:t>Метрики пилота: доля принятых приглашений, время до найма, NPS обеих сторон.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29768"/>
            <a:ext cx="4382008" cy="402336"/>
          </a:xfrm>
        </p:spPr>
        <p:txBody>
          <a:bodyPr wrap="none"/>
          <a:lstStyle/>
          <a:p>
            <a:pPr/>
            <a:r>
              <a:rPr lang="ru-RU"/>
              <a:t>02 · МАРКЕТИНГОВАЯ ЧАСТЬ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pPr/>
            <a:r>
              <a:rPr lang="ru-RU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pPr/>
            <a:r>
              <a:rPr lang="ru-RU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pPr/>
            <a:r>
              <a:rPr lang="ru-RU">
                <a:solidFill>
                  <a:srgbClr val="FF005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501827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Семейства заданий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359 шаблонов по 27 доменам с откалиброванной трудностью; 125 — параметрические.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Свой вариант каждому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Данные, код на языке кандидата и верный ответ генерируются из seed сессии.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Общая шкала IRT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Модель 3PL и оценка уровня EAP: результаты с разными заданиями сопоставимы.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Адаптивный выбор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Максимум информации, баланс доменов, случайный из топ-4, экспозиция ≤ 30%.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Решение по грейду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Подтверждён при P(θ ≥ границы) ≥ 0,6; грейд не понижается, смена — раз в 90 дней.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Детекторы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Ответы «чужого варианта», дрейф решаемости заданий, person-fit, слишком быстрые ответы.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4789678" cy="402336"/>
          </a:xfrm>
        </p:spPr>
        <p:txBody>
          <a:bodyPr wrap="none"/>
          <a:lstStyle/>
          <a:p>
            <a:pPr/>
            <a:r>
              <a:rPr lang="ru-RU"/>
              <a:t>01 · МЕХАНИКА ТЕСТИРОВАНИЯ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pPr/>
            <a:r>
              <a:rPr lang="ru-RU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pPr/>
            <a:r>
              <a:rPr lang="ru-RU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pPr/>
            <a:r>
              <a:rPr lang="ru-RU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pPr/>
            <a:r>
              <a:rPr lang="ru-RU">
                <a:solidFill>
                  <a:srgbClr val="FF0053"/>
                </a:solidFill>
              </a:rPr>
              <a:t>04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pPr/>
            <a:r>
              <a:rPr lang="ru-RU">
                <a:solidFill>
                  <a:srgbClr val="FF0053"/>
                </a:solidFill>
              </a:rPr>
              <a:t>05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pPr/>
            <a:r>
              <a:rPr lang="ru-RU">
                <a:solidFill>
                  <a:srgbClr val="FF005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391464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>
            <a:pPr marL="228600" indent="-228600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200" b="1">
                <a:solidFill>
                  <a:srgbClr val="2D1451"/>
                </a:solidFill>
              </a:rPr>
              <a:t>ФСП ID по OpenID Connect: </a:t>
            </a:r>
            <a:r>
              <a:rPr lang="ru-RU" sz="1200">
                <a:solidFill>
                  <a:srgbClr val="1C1D22"/>
                </a:solidFill>
              </a:rPr>
              <a:t>code + PKCE, проверка id_token по JWKS. Пути как у Keycloak — для боевого ФСП ID достаточно сменить адрес и ключи клиента.</a:t>
            </a:r>
          </a:p>
          <a:p>
            <a:pPr marL="228600" indent="-228600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200" b="1">
                <a:solidFill>
                  <a:srgbClr val="2D1451"/>
                </a:solidFill>
              </a:rPr>
              <a:t>Реестр достижений: </a:t>
            </a:r>
            <a:r>
              <a:rPr lang="ru-RU" sz="1200">
                <a:solidFill>
                  <a:srgbClr val="1C1D22"/>
                </a:solidFill>
              </a:rPr>
              <a:t>соревнование, уровень, дисциплина, место, команда, ссылка на протокол.</a:t>
            </a:r>
          </a:p>
          <a:p>
            <a:pPr marL="228600" indent="-228600">
              <a:spcAft>
                <a:spcPts val="4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200" b="1">
                <a:solidFill>
                  <a:srgbClr val="2D1451"/>
                </a:solidFill>
              </a:rPr>
              <a:t>Сила профиля: </a:t>
            </a:r>
            <a:r>
              <a:rPr lang="ru-RU" sz="1200">
                <a:solidFill>
                  <a:srgbClr val="1C1D22"/>
                </a:solidFill>
              </a:rPr>
              <a:t>1 − Π(1 − 0,85·sᵢ) по релевантным дисциплинам; нет истории ФСП — нет штрафа.</a:t>
            </a: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3686048" cy="402336"/>
          </a:xfrm>
        </p:spPr>
        <p:txBody>
          <a:bodyPr wrap="none"/>
          <a:lstStyle/>
          <a:p>
            <a:pPr/>
            <a:r>
              <a:rPr lang="ru-RU"/>
              <a:t>01 · ИНТЕГРАЦИЯ С ФСП</a:t>
            </a:r>
          </a:p>
        </p:txBody>
      </p:sp>
      <p:pic>
        <p:nvPicPr>
          <p:cNvPr id="11" name="Picture 10" descr="oidc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1" y="3108960"/>
            <a:ext cx="5504696" cy="3429000"/>
          </a:xfrm>
          <a:prstGeom prst="roundRect">
            <a:avLst>
              <a:gd name="adj" fmla="val 4000"/>
            </a:avLst>
          </a:prstGeom>
          <a:ln w="9525">
            <a:solidFill>
              <a:srgbClr val="E5E1EF"/>
            </a:solidFill>
          </a:ln>
        </p:spPr>
      </p:pic>
      <p:pic>
        <p:nvPicPr>
          <p:cNvPr id="12" name="Picture 11" descr="fsp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517107"/>
            <a:ext cx="4343400" cy="4235265"/>
          </a:xfrm>
          <a:prstGeom prst="roundRect">
            <a:avLst>
              <a:gd name="adj" fmla="val 4000"/>
            </a:avLst>
          </a:prstGeom>
          <a:ln w="9525">
            <a:solidFill>
              <a:srgbClr val="E5E1EF"/>
            </a:solidFill>
          </a:ln>
        </p:spPr>
      </p:pic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55904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spcAft>
                <a:spcPts val="1000"/>
              </a:spcAft>
            </a:pPr>
            <a:r>
              <a:rPr lang="ru-RU" sz="1300" b="1">
                <a:solidFill>
                  <a:srgbClr val="2D1451"/>
                </a:solidFill>
              </a:rPr>
              <a:t>Кандидатам — бесплатно. </a:t>
            </a:r>
            <a:r>
              <a:rPr lang="ru-RU" sz="1300">
                <a:solidFill>
                  <a:srgbClr val="1C1D22"/>
                </a:solidFill>
              </a:rPr>
              <a:t>Платят работодатели: за доступ к кандидатам с подтверждённым уровнем и за инструменты найма.</a:t>
            </a:r>
          </a:p>
          <a:p>
            <a:pPr algn="l">
              <a:spcAft>
                <a:spcPts val="1000"/>
              </a:spcAft>
            </a:pPr>
            <a:r>
              <a:rPr lang="ru-RU" sz="1300" b="1">
                <a:solidFill>
                  <a:srgbClr val="2D1451"/>
                </a:solidFill>
              </a:rPr>
              <a:t>ФСП — оператор и партнёр: </a:t>
            </a:r>
            <a:r>
              <a:rPr lang="ru-RU" sz="1300">
                <a:solidFill>
                  <a:srgbClr val="1C1D22"/>
                </a:solidFill>
              </a:rPr>
              <a:t>бренд, сообщество и реестр достижений; доход направляется на развитие соревнований.</a:t>
            </a:r>
          </a:p>
          <a:p>
            <a:pPr algn="l">
              <a:spcAft>
                <a:spcPts val="1000"/>
              </a:spcAft>
            </a:pPr>
            <a:r>
              <a:rPr lang="ru-RU" sz="1300" b="1">
                <a:solidFill>
                  <a:srgbClr val="2D1451"/>
                </a:solidFill>
              </a:rPr>
              <a:t>Ключевая метрика: </a:t>
            </a:r>
            <a:r>
              <a:rPr lang="ru-RU" sz="1300">
                <a:solidFill>
                  <a:srgbClr val="1C1D22"/>
                </a:solidFill>
              </a:rPr>
              <a:t>стоимость найма через платформу против часов технических специалистов на разбор откликов и собеседования.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/>
            <a:r>
              <a:rPr lang="ru-RU" sz="1200">
                <a:solidFill>
                  <a:srgbClr val="1C1D22"/>
                </a:solidFill>
              </a:rPr>
              <a:t>Freemium для компаний: базовые подборки бесплатно, тариф — по числу приглашений и подборок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/>
            <a:r>
              <a:rPr lang="ru-RU" sz="1200">
                <a:solidFill>
                  <a:srgbClr val="1C1D22"/>
                </a:solidFill>
              </a:rPr>
              <a:t>Тест по вакансии: собственный блюпринт и задания работодателя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/>
            <a:r>
              <a:rPr lang="ru-RU" sz="1200">
                <a:solidFill>
                  <a:srgbClr val="1C1D22"/>
                </a:solidFill>
              </a:rPr>
              <a:t>Интеграция с ATS и API — корпоративный тариф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/>
            <a:r>
              <a:rPr lang="ru-RU" sz="1200">
                <a:solidFill>
                  <a:srgbClr val="1C1D22"/>
                </a:solidFill>
              </a:rPr>
              <a:t>Спонсорские регулярные задания для категорий — бренд работодателя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/>
            <a:r>
              <a:rPr lang="ru-RU" sz="1200">
                <a:solidFill>
                  <a:srgbClr val="1C1D22"/>
                </a:solidFill>
              </a:rPr>
              <a:t>Совместные программы с ФСП: стажировки и гранты для призёров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3330448" cy="402336"/>
          </a:xfrm>
        </p:spPr>
        <p:txBody>
          <a:bodyPr wrap="none"/>
          <a:lstStyle/>
          <a:p>
            <a:pPr/>
            <a:r>
              <a:rPr lang="ru-RU"/>
              <a:t>03 · БИЗНЕС-МОДЕЛЬ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500430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600">
                <a:solidFill>
                  <a:srgbClr val="2D1451"/>
                </a:solidFill>
              </a:rPr>
              <a:t>Свой вариант у каждого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Ответ из слитой базы не подходит к своему варианту: данные и ключ уникальны для каждого показа.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600">
                <a:solidFill>
                  <a:srgbClr val="2D1451"/>
                </a:solidFill>
              </a:rPr>
              <a:t>Детектор «чужого варианта»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Ответ, совпавший с ключом чужого варианта, помечает сессию: 81% нечестных при 1% ложных пометок.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600">
                <a:solidFill>
                  <a:srgbClr val="2D1451"/>
                </a:solidFill>
              </a:rPr>
              <a:t>Дрейф и экспозиция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Задание, которое решают чаще модели (z &gt; 3), уходит из ротации; совпадает лишь 15% вопросов.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7472" y="1737360"/>
          <a:ext cx="57607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4775708" cy="402336"/>
          </a:xfrm>
        </p:spPr>
        <p:txBody>
          <a:bodyPr wrap="none"/>
          <a:lstStyle/>
          <a:p>
            <a:pPr/>
            <a:r>
              <a:rPr lang="ru-RU"/>
              <a:t>01 · УСТОЙЧИВОСТЬ К УТЕЧКАМ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14300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1200">
                <a:solidFill>
                  <a:srgbClr val="FFFFFF"/>
                </a:solidFill>
              </a:rPr>
              <a:t>Доля нечестных кандидатов, незаметно завысивших грейд, если «слита» база из K предыдущих прохождений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415848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Пул — категории по тесту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Основная категория, соседние грейды и смежные специализации; резюме в выдачу не пускает.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Навыки по свидетельствам теста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«Подтверждён», «заявлен» или «не подтвердился» на уровне требований вакансии.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Сила профиля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0,6 · тест + 0,25 · ФСП + 0,15 · регулярные задания; нет истории ФСП — нет штрафа.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Объяснение и отклик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Причины «за/против» у каждого кандидата и вероятность, что он примет приглашение.</a:t>
            </a: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16834"/>
              </p:ext>
            </p:extLst>
          </p:nvPr>
        </p:nvGraphicFramePr>
        <p:xfrm>
          <a:off x="347472" y="1783080"/>
          <a:ext cx="58521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3929888" cy="402336"/>
          </a:xfrm>
        </p:spPr>
        <p:txBody>
          <a:bodyPr wrap="none"/>
          <a:lstStyle/>
          <a:p>
            <a:pPr/>
            <a:r>
              <a:rPr lang="ru-RU"/>
              <a:t>01 · МЕХАНИКА ПОДБОРА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114300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1200">
                <a:solidFill>
                  <a:srgbClr val="1C1D22"/>
                </a:solidFill>
              </a:rPr>
              <a:t>Оценка соответствия = взвешенная сумма компонент × доступность (город, формат, ожидания по доходу)</a:t>
            </a:r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/>
          <p:nvPr/>
        </p:nvSpPr>
        <p:spPr>
          <a:xfrm>
            <a:off x="346075" y="324562"/>
            <a:ext cx="43769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6"/>
                </a:solidFill>
              </a:rPr>
              <a:pPr/>
              <a:t>14</a:t>
            </a:fld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59E30-6C4D-4948-8568-60CCBD502C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Категория по тесту — главный вклад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9FC576-ABC9-4CC9-AEBC-4DFDC5F89D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590" y="1739825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Если брать категорию из резюме, P@10 падает с 0,85 до 0,73, а «завысивших себя» в топ-10 — в 7 раз больше.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7C612-3BCE-42A9-9328-FAC2A54EE8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Сквозной сценарий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900818-7069-4552-BD02-336072AA45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76590" y="3008386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Текст вакансии → NLP → подборка: 0,84 — почти без потерь против структурированного запроса.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AC9A94-F4B7-4F3F-B688-8CF92AA1EB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Честные абляции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BBBB562-D7FE-4795-A702-7954DF2FFA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6590" y="4276947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Без ФСП — 0,84, без проверки навыков тестом — 0,85: в синтетике резюме перечисляют 92% навыков честно.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AFC1158-120D-4CE1-AFB1-4C61CA6A366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rgbClr val="2D1451"/>
                </a:solidFill>
              </a:rPr>
              <a:t>Скорость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6FB8C27-CC1E-4515-8198-911B043ED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76590" y="5545509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rgbClr val="1C1D22"/>
                </a:solidFill>
              </a:rPr>
              <a:t>Ранжирование пула до 900 кандидатов — 39 мс; подборка на стенде — 0,1–0,2 с.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4148328" cy="402336"/>
          </a:xfrm>
        </p:spPr>
        <p:txBody>
          <a:bodyPr wrap="none"/>
          <a:lstStyle/>
          <a:p>
            <a:pPr/>
            <a:r>
              <a:rPr lang="ru-RU"/>
              <a:t>01 · ВАЛИДАЦИЯ ПОДБОРА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47472" y="1783080"/>
          <a:ext cx="6035040" cy="4206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11480" y="114300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/>
            <a:r>
              <a:rPr lang="ru-RU" sz="1200">
                <a:solidFill>
                  <a:srgbClr val="1C1D22"/>
                </a:solidFill>
              </a:rPr>
              <a:t>Доля релевантных кандидатов в первой десятке выдачи (P@10), 900 кандидатов × 60 потребностей</a:t>
            </a:r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42010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7741" y="3785449"/>
            <a:ext cx="3271147" cy="219456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sz="1500">
                <a:solidFill>
                  <a:srgbClr val="1C1D22"/>
                </a:solidFill>
              </a:rPr>
              <a:t>Резюме не подтверждает навыки: отбор сводится к ключевым словам, работодатель вручную разбирает сотни откликов, кандидат откликается вслепую и узнаёт условия последним.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55737" y="3785449"/>
            <a:ext cx="3271147" cy="219456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sz="1500">
                <a:solidFill>
                  <a:srgbClr val="1C1D22"/>
                </a:solidFill>
              </a:rPr>
              <a:t>Универсальные площадки: поиск по самоописанию. Единый тест быстро расходится между кандидатами, а уникальные задания от нейросети несопоставимы по сложности.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53733" y="3785449"/>
            <a:ext cx="3271147" cy="219456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sz="1500">
                <a:solidFill>
                  <a:srgbClr val="1C1D22"/>
                </a:solidFill>
              </a:rPr>
              <a:t>Категория по адаптивному тесту с уникальными вариантами на общей шкале IRT. Работодатель находит категорию и приглашает кандидата с вилкой; контакты — после согласия.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4191508" cy="402336"/>
          </a:xfrm>
        </p:spPr>
        <p:txBody>
          <a:bodyPr wrap="none"/>
          <a:lstStyle/>
          <a:p>
            <a:pPr/>
            <a:r>
              <a:rPr lang="ru-RU"/>
              <a:t>01 · ПРОБЛЕМА И РЕШЕНИЕ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icon_36_62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778" y="1668324"/>
            <a:ext cx="777240" cy="777240"/>
          </a:xfrm>
          <a:prstGeom prst="rect">
            <a:avLst/>
          </a:prstGeom>
        </p:spPr>
      </p:pic>
      <p:pic>
        <p:nvPicPr>
          <p:cNvPr id="60" name="Picture 59" descr="icon_33_3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022" y="1668324"/>
            <a:ext cx="777240" cy="777240"/>
          </a:xfrm>
          <a:prstGeom prst="rect">
            <a:avLst/>
          </a:prstGeom>
        </p:spPr>
      </p:pic>
      <p:pic>
        <p:nvPicPr>
          <p:cNvPr id="61" name="Picture 60" descr="icon_33_2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2770" y="1698355"/>
            <a:ext cx="777240" cy="777240"/>
          </a:xfrm>
          <a:prstGeom prst="rect">
            <a:avLst/>
          </a:prstGeom>
        </p:spPr>
      </p:pic>
      <p:sp>
        <p:nvSpPr>
          <p:cNvPr id="62" name="Text Placeholder 61"/>
          <p:cNvSpPr>
            <a:spLocks noGrp="1"/>
          </p:cNvSpPr>
          <p:nvPr>
            <p:ph type="body" idx="33" sz="quarter"/>
          </p:nvPr>
        </p:nvSpPr>
        <p:spPr>
          <a:xfrm>
            <a:off x="657741" y="3236809"/>
            <a:ext cx="3271147" cy="411480"/>
          </a:xfrm>
        </p:spPr>
        <p:txBody>
          <a:bodyPr/>
          <a:lstStyle/>
          <a:p>
            <a:pPr marL="0" indent="0">
              <a:buNone/>
            </a:pPr>
            <a:r>
              <a:rPr lang="ru-RU" sz="1700">
                <a:solidFill>
                  <a:srgbClr val="2D1451"/>
                </a:solidFill>
              </a:rPr>
              <a:t>Проблема</a:t>
            </a:r>
          </a:p>
        </p:txBody>
      </p:sp>
      <p:sp>
        <p:nvSpPr>
          <p:cNvPr id="63" name="Text Placeholder 62"/>
          <p:cNvSpPr>
            <a:spLocks noGrp="1"/>
          </p:cNvSpPr>
          <p:nvPr>
            <p:ph type="body" idx="34" sz="quarter"/>
          </p:nvPr>
        </p:nvSpPr>
        <p:spPr>
          <a:xfrm>
            <a:off x="4555737" y="3236809"/>
            <a:ext cx="3271147" cy="411480"/>
          </a:xfrm>
        </p:spPr>
        <p:txBody>
          <a:bodyPr/>
          <a:lstStyle/>
          <a:p>
            <a:pPr marL="0" indent="0">
              <a:buNone/>
            </a:pPr>
            <a:r>
              <a:rPr lang="ru-RU" sz="1700">
                <a:solidFill>
                  <a:srgbClr val="2D1451"/>
                </a:solidFill>
              </a:rPr>
              <a:t>Как ищут сейчас</a:t>
            </a:r>
          </a:p>
        </p:txBody>
      </p:sp>
      <p:sp>
        <p:nvSpPr>
          <p:cNvPr id="64" name="Text Placeholder 63"/>
          <p:cNvSpPr>
            <a:spLocks noGrp="1"/>
          </p:cNvSpPr>
          <p:nvPr>
            <p:ph type="body" idx="35" sz="quarter"/>
          </p:nvPr>
        </p:nvSpPr>
        <p:spPr>
          <a:xfrm>
            <a:off x="8453733" y="3236809"/>
            <a:ext cx="3271147" cy="411480"/>
          </a:xfrm>
        </p:spPr>
        <p:txBody>
          <a:bodyPr/>
          <a:lstStyle/>
          <a:p>
            <a:pPr marL="0" indent="0">
              <a:buNone/>
            </a:pPr>
            <a:r>
              <a:rPr lang="ru-RU" sz="1700">
                <a:solidFill>
                  <a:srgbClr val="2D1451"/>
                </a:solidFill>
              </a:rPr>
              <a:t>Наше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436930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rgbClr val="FF0053"/>
                </a:solidFill>
              </a:rPr>
              <a:t>Пилот с ФСП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rgbClr val="1C1D22"/>
                </a:solidFill>
              </a:rPr>
              <a:t>ФСП ID на Keycloak и реестр; 100–200 участников; экспертная проверка грейдов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rgbClr val="FF0053"/>
                </a:solidFill>
              </a:rPr>
              <a:t>Банк 800+ заданий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rgbClr val="1C1D22"/>
                </a:solidFill>
              </a:rPr>
              <a:t>Задачи с исполнением кода; конвейер «черновик LLM → ревью → пилот → калибровка»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rgbClr val="FF0053"/>
                </a:solidFill>
              </a:rPr>
              <a:t>Масштаб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rgbClr val="1C1D22"/>
                </a:solidFill>
              </a:rPr>
              <a:t>Обучение ранжирования на исходах найма, мобильное приложение, новые направления ФСП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rgbClr val="FF0053"/>
                </a:solidFill>
              </a:rPr>
              <a:t>Калибровка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rgbClr val="1C1D22"/>
                </a:solidFill>
              </a:rPr>
              <a:t>Онлайн-калибровка банка на реальных ответах; разметка релевантности работодателями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rgbClr val="FF0053"/>
                </a:solidFill>
              </a:rPr>
              <a:t>Доверие и ATS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rgbClr val="1C1D22"/>
                </a:solidFill>
              </a:rPr>
              <a:t>Верификация компаний, модерация вакансий, коннекторы к ATS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4140708" cy="402336"/>
          </a:xfrm>
        </p:spPr>
        <p:txBody>
          <a:bodyPr wrap="none"/>
          <a:lstStyle/>
          <a:p>
            <a:pPr/>
            <a:r>
              <a:rPr lang="ru-RU"/>
              <a:t>06 · ПЛАНЫ ПО РАЗВИТИЮ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/>
          <p:nvPr/>
        </p:nvSpPr>
        <p:spPr>
          <a:xfrm>
            <a:off x="346075" y="324562"/>
            <a:ext cx="416610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2A0318-C089-B05C-98D0-C8E15942D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2" y="904538"/>
            <a:ext cx="4551334" cy="3557364"/>
          </a:xfrm>
          <a:prstGeom prst="rect">
            <a:avLst/>
          </a:prstGeom>
        </p:spPr>
      </p:pic>
      <p:pic>
        <p:nvPicPr>
          <p:cNvPr id="2" name="Рисунок 1" descr="selection_tablet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28" r="28"/>
          <a:stretch>
            <a:fillRect/>
          </a:stretch>
        </p:blipFill>
        <p:spPr/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/>
            <a:r>
              <a:rPr lang="ru-RU" sz="1300" b="1">
                <a:solidFill>
                  <a:srgbClr val="2D1451"/>
                </a:solidFill>
              </a:rPr>
              <a:t>1. Потребность текстом. </a:t>
            </a:r>
            <a:r>
              <a:rPr lang="ru-RU" sz="1300">
                <a:solidFill>
                  <a:srgbClr val="1C1D22"/>
                </a:solidFill>
              </a:rPr>
              <a:t>NLP определяет специализацию, грейд, обязательные и желательные навыки, вилку, формат и город.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/>
            <a:r>
              <a:rPr lang="ru-RU" sz="1300" b="1">
                <a:solidFill>
                  <a:srgbClr val="2D1451"/>
                </a:solidFill>
              </a:rPr>
              <a:t>2. Категории и рынок. </a:t>
            </a:r>
            <a:r>
              <a:rPr lang="ru-RU" sz="1300">
                <a:solidFill>
                  <a:srgbClr val="1C1D22"/>
                </a:solidFill>
              </a:rPr>
              <a:t>Сколько кандидатов, медиана ожиданий, доля в вашей вилке, сколько с достижениями ФСП.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/>
            <a:r>
              <a:rPr lang="ru-RU" sz="1300" b="1">
                <a:solidFill>
                  <a:srgbClr val="2D1451"/>
                </a:solidFill>
              </a:rPr>
              <a:t>3. Кандидаты с объяснением. </a:t>
            </a:r>
            <a:r>
              <a:rPr lang="ru-RU" sz="1300">
                <a:solidFill>
                  <a:srgbClr val="1C1D22"/>
                </a:solidFill>
              </a:rPr>
              <a:t>Причины «за/против», фильтры без потери подборки, приглашение с обязательной вилкой.</a:t>
            </a: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3937508" cy="402336"/>
          </a:xfrm>
        </p:spPr>
        <p:txBody>
          <a:bodyPr wrap="none"/>
          <a:lstStyle/>
          <a:p>
            <a:pPr/>
            <a:r>
              <a:rPr lang="ru-RU"/>
              <a:t>01 · ПУТЬ РАБОТОДАТЕЛЯ</a:t>
            </a:r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660647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/>
              <a:r>
                <a:rPr lang="ru-RU" sz="100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localhost:8080 · ФСП Карьера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/>
              <a:r>
                <a:rPr lang="ru-RU" sz="100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localhost:8080 · ФСП Карьера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/>
            <a:r>
              <a:rPr lang="ru-RU" sz="1300" b="1">
                <a:solidFill>
                  <a:srgbClr val="2D1451"/>
                </a:solidFill>
              </a:rPr>
              <a:t>Опрос → адаптивный тест. </a:t>
            </a:r>
            <a:r>
              <a:rPr lang="ru-RU" sz="1300">
                <a:solidFill>
                  <a:srgbClr val="1C1D22"/>
                </a:solidFill>
              </a:rPr>
              <a:t>12–24 задания на выбранный грейд, свой вариант у каждого кандидата, код на его основном языке, таймер на задание.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/>
            <a:r>
              <a:rPr lang="ru-RU" sz="1300" b="1">
                <a:solidFill>
                  <a:srgbClr val="2D1451"/>
                </a:solidFill>
              </a:rPr>
              <a:t>Категория и профиль. </a:t>
            </a:r>
            <a:r>
              <a:rPr lang="ru-RU" sz="1300">
                <a:solidFill>
                  <a:srgbClr val="1C1D22"/>
                </a:solidFill>
              </a:rPr>
              <a:t>«Специализация × грейд», процентиль, профиль по доменам. Грейд не понижается; смена — не чаще раза в 90 дней.</a:t>
            </a:r>
          </a:p>
        </p:txBody>
      </p:sp>
      <p:pic>
        <p:nvPicPr>
          <p:cNvPr id="5" name="Рисунок 4" descr="runner_14_1.805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9" r="29"/>
          <a:stretch>
            <a:fillRect/>
          </a:stretch>
        </p:blipFill>
        <p:spPr>
          <a:xfrm>
            <a:off x="1210642" y="1577998"/>
            <a:ext cx="4121688" cy="2283975"/>
          </a:xfrm>
        </p:spPr>
      </p:pic>
      <p:pic>
        <p:nvPicPr>
          <p:cNvPr id="6" name="Рисунок 5" descr="grade_18_1.805.png"/>
          <p:cNvPicPr>
            <a:picLocks noGrp="1" noChangeAspect="1"/>
          </p:cNvPicPr>
          <p:nvPr>
            <p:ph type="pic" sz="quarter" idx="18"/>
          </p:nvPr>
        </p:nvPicPr>
        <p:blipFill>
          <a:blip r:embed="rId4"/>
          <a:srcRect l="29" r="29"/>
          <a:stretch>
            <a:fillRect/>
          </a:stretch>
        </p:blipFill>
        <p:spPr>
          <a:xfrm>
            <a:off x="6855540" y="1577998"/>
            <a:ext cx="4121688" cy="2283975"/>
          </a:xfrm>
        </p:spPr>
      </p:pic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3432047" cy="402336"/>
          </a:xfrm>
        </p:spPr>
        <p:txBody>
          <a:bodyPr wrap="none"/>
          <a:lstStyle/>
          <a:p>
            <a:pPr/>
            <a:r>
              <a:rPr lang="ru-RU"/>
              <a:t>01 · ПУТЬ КАНДИДАТА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372E3068-986E-9BBB-5D18-64091C039ECC}"/>
              </a:ext>
            </a:extLst>
          </p:cNvPr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B8BFB44-8926-1FDF-4E57-C5ADDA0407C0}"/>
              </a:ext>
            </a:extLst>
          </p:cNvPr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87E602FF-7E26-F668-96F3-CBB1BFAE5C17}"/>
              </a:ext>
            </a:extLst>
          </p:cNvPr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B4A97A4-D44E-1F60-1759-1E959FA4D289}"/>
              </a:ext>
            </a:extLst>
          </p:cNvPr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F7C252A-35BF-DB93-9627-7E3B7BBEB1F9}"/>
              </a:ext>
            </a:extLst>
          </p:cNvPr>
          <p:cNvSpPr/>
          <p:nvPr/>
        </p:nvSpPr>
        <p:spPr>
          <a:xfrm>
            <a:off x="346075" y="324562"/>
            <a:ext cx="416991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2" name="Рисунок 1" descr="m_landing_14_0.472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1" r="1"/>
          <a:stretch>
            <a:fillRect/>
          </a:stretch>
        </p:blipFill>
        <p:spPr>
          <a:xfrm>
            <a:off x="1044995" y="1139854"/>
            <a:ext cx="1726214" cy="3657600"/>
          </a:xfrm>
        </p:spPr>
      </p:pic>
      <p:pic>
        <p:nvPicPr>
          <p:cNvPr id="3" name="Рисунок 2" descr="m_runner_15_0.472.png"/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 l="1" r="1"/>
          <a:stretch>
            <a:fillRect/>
          </a:stretch>
        </p:blipFill>
        <p:spPr>
          <a:xfrm>
            <a:off x="3770385" y="1139854"/>
            <a:ext cx="1726214" cy="3657600"/>
          </a:xfrm>
        </p:spPr>
      </p:pic>
      <p:pic>
        <p:nvPicPr>
          <p:cNvPr id="4" name="Рисунок 3" descr="m_invitation_16_0.472.png"/>
          <p:cNvPicPr>
            <a:picLocks noGrp="1" noChangeAspect="1"/>
          </p:cNvPicPr>
          <p:nvPr>
            <p:ph type="pic" sz="quarter" idx="16"/>
          </p:nvPr>
        </p:nvPicPr>
        <p:blipFill>
          <a:blip r:embed="rId6"/>
          <a:srcRect l="1" r="1"/>
          <a:stretch>
            <a:fillRect/>
          </a:stretch>
        </p:blipFill>
        <p:spPr>
          <a:xfrm>
            <a:off x="6752863" y="1144729"/>
            <a:ext cx="1726214" cy="3657600"/>
          </a:xfrm>
        </p:spPr>
      </p:pic>
      <p:pic>
        <p:nvPicPr>
          <p:cNvPr id="5" name="Рисунок 4" descr="m_selection_17_0.472.png"/>
          <p:cNvPicPr>
            <a:picLocks noGrp="1" noChangeAspect="1"/>
          </p:cNvPicPr>
          <p:nvPr>
            <p:ph type="pic" sz="quarter" idx="17"/>
          </p:nvPr>
        </p:nvPicPr>
        <p:blipFill>
          <a:blip r:embed="rId7"/>
          <a:srcRect l="1" r="1"/>
          <a:stretch>
            <a:fillRect/>
          </a:stretch>
        </p:blipFill>
        <p:spPr>
          <a:xfrm>
            <a:off x="9621936" y="1120110"/>
            <a:ext cx="1726214" cy="3657600"/>
          </a:xfr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A7D045A-A8EF-4758-822A-D4C79AEC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888D882-21EA-4859-AD0B-F83535D57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155" y="5035451"/>
            <a:ext cx="2658088" cy="1271340"/>
          </a:xfrm>
        </p:spPr>
        <p:txBody>
          <a:bodyPr anchor="ctr"/>
          <a:lstStyle/>
          <a:p>
            <a:pPr algn="ctr" marL="0" indent="0">
              <a:buNone/>
            </a:pPr>
            <a:r>
              <a:rPr lang="ru-RU" sz="1400" b="1">
                <a:solidFill>
                  <a:srgbClr val="2D1451"/>
                </a:solidFill>
              </a:rPr>
              <a:t>Главная: механика и цифры платформы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4512A82-0FB0-43DF-93BA-4AAE010B0E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2624" y="5035451"/>
            <a:ext cx="2706185" cy="1271340"/>
          </a:xfrm>
        </p:spPr>
        <p:txBody>
          <a:bodyPr anchor="ctr"/>
          <a:lstStyle/>
          <a:p>
            <a:pPr algn="ctr" marL="0" indent="0">
              <a:buNone/>
            </a:pPr>
            <a:r>
              <a:rPr lang="ru-RU" sz="1400" b="1">
                <a:solidFill>
                  <a:srgbClr val="2D1451"/>
                </a:solidFill>
              </a:rPr>
              <a:t>Тест: задание, таймер, прогресс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3FD380F-869A-4817-B010-68C40DCD7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4192" y="5035451"/>
            <a:ext cx="2728103" cy="1271340"/>
          </a:xfrm>
        </p:spPr>
        <p:txBody>
          <a:bodyPr anchor="ctr"/>
          <a:lstStyle/>
          <a:p>
            <a:pPr algn="ctr" marL="0" indent="0">
              <a:buNone/>
            </a:pPr>
            <a:r>
              <a:rPr lang="ru-RU" sz="1400" b="1">
                <a:solidFill>
                  <a:srgbClr val="2D1451"/>
                </a:solidFill>
              </a:rPr>
              <a:t>Приглашение: вилка и условия до общения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78F308C-1886-4E54-A21C-8947C5BAC3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5035451"/>
            <a:ext cx="2739248" cy="1271340"/>
          </a:xfrm>
        </p:spPr>
        <p:txBody>
          <a:bodyPr anchor="ctr"/>
          <a:lstStyle/>
          <a:p>
            <a:pPr algn="ctr" marL="0" indent="0">
              <a:buNone/>
            </a:pPr>
            <a:r>
              <a:rPr lang="ru-RU" sz="1400" b="1">
                <a:solidFill>
                  <a:srgbClr val="2D1451"/>
                </a:solidFill>
              </a:rPr>
              <a:t>Подборка: категории и рынок</a:t>
            </a:r>
          </a:p>
        </p:txBody>
      </p: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31250022-45D9-F12D-3C47-EF28765F4C31}"/>
              </a:ext>
            </a:extLst>
          </p:cNvPr>
          <p:cNvGrpSpPr/>
          <p:nvPr/>
        </p:nvGrpSpPr>
        <p:grpSpPr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>
              <a:extLst>
                <a:ext uri="{FF2B5EF4-FFF2-40B4-BE49-F238E27FC236}">
                  <a16:creationId xmlns:a16="http://schemas.microsoft.com/office/drawing/2014/main" id="{24AEA150-DD4F-B078-FF83-FEE03143696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4" name="Полилиния: фигура 14">
              <a:extLst>
                <a:ext uri="{FF2B5EF4-FFF2-40B4-BE49-F238E27FC236}">
                  <a16:creationId xmlns:a16="http://schemas.microsoft.com/office/drawing/2014/main" id="{99E94FA1-5BB5-0D58-4BBD-DE5C76358423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5" name="Полилиния: фигура 15">
              <a:extLst>
                <a:ext uri="{FF2B5EF4-FFF2-40B4-BE49-F238E27FC236}">
                  <a16:creationId xmlns:a16="http://schemas.microsoft.com/office/drawing/2014/main" id="{EC571396-05D0-35C1-5295-C7D257F4D92F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6">
              <a:extLst>
                <a:ext uri="{FF2B5EF4-FFF2-40B4-BE49-F238E27FC236}">
                  <a16:creationId xmlns:a16="http://schemas.microsoft.com/office/drawing/2014/main" id="{9B732ADF-E9DA-13D4-42DD-BC54854010DA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7">
              <a:extLst>
                <a:ext uri="{FF2B5EF4-FFF2-40B4-BE49-F238E27FC236}">
                  <a16:creationId xmlns:a16="http://schemas.microsoft.com/office/drawing/2014/main" id="{0678F81A-528D-A550-D258-6BBE42EEC68D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8">
              <a:extLst>
                <a:ext uri="{FF2B5EF4-FFF2-40B4-BE49-F238E27FC236}">
                  <a16:creationId xmlns:a16="http://schemas.microsoft.com/office/drawing/2014/main" id="{25414295-E7C9-1A32-CA87-C03CF520D7C8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9">
              <a:extLst>
                <a:ext uri="{FF2B5EF4-FFF2-40B4-BE49-F238E27FC236}">
                  <a16:creationId xmlns:a16="http://schemas.microsoft.com/office/drawing/2014/main" id="{E8A820F9-852B-9D6F-4958-7115D82B78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20">
              <a:extLst>
                <a:ext uri="{FF2B5EF4-FFF2-40B4-BE49-F238E27FC236}">
                  <a16:creationId xmlns:a16="http://schemas.microsoft.com/office/drawing/2014/main" id="{A1CF9CF3-386D-EAF7-4826-6711831475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21">
              <a:extLst>
                <a:ext uri="{FF2B5EF4-FFF2-40B4-BE49-F238E27FC236}">
                  <a16:creationId xmlns:a16="http://schemas.microsoft.com/office/drawing/2014/main" id="{96508A4E-34F4-C72C-8A4A-3D35D6C3DB3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22">
              <a:extLst>
                <a:ext uri="{FF2B5EF4-FFF2-40B4-BE49-F238E27FC236}">
                  <a16:creationId xmlns:a16="http://schemas.microsoft.com/office/drawing/2014/main" id="{51EB21C3-71D0-415B-6856-697384359B8F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23">
              <a:extLst>
                <a:ext uri="{FF2B5EF4-FFF2-40B4-BE49-F238E27FC236}">
                  <a16:creationId xmlns:a16="http://schemas.microsoft.com/office/drawing/2014/main" id="{0466A1BA-47FF-C618-565D-0CBFDCEEC700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24">
              <a:extLst>
                <a:ext uri="{FF2B5EF4-FFF2-40B4-BE49-F238E27FC236}">
                  <a16:creationId xmlns:a16="http://schemas.microsoft.com/office/drawing/2014/main" id="{75E55049-DE9B-98AC-BB13-FCA1570B68F3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25">
              <a:extLst>
                <a:ext uri="{FF2B5EF4-FFF2-40B4-BE49-F238E27FC236}">
                  <a16:creationId xmlns:a16="http://schemas.microsoft.com/office/drawing/2014/main" id="{CF905F48-77CA-03E7-97ED-1F92F9A828BD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26">
              <a:extLst>
                <a:ext uri="{FF2B5EF4-FFF2-40B4-BE49-F238E27FC236}">
                  <a16:creationId xmlns:a16="http://schemas.microsoft.com/office/drawing/2014/main" id="{CEBF0B75-055D-4965-772F-47AD1E433B6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27">
              <a:extLst>
                <a:ext uri="{FF2B5EF4-FFF2-40B4-BE49-F238E27FC236}">
                  <a16:creationId xmlns:a16="http://schemas.microsoft.com/office/drawing/2014/main" id="{F00C9732-1E60-E852-DA70-EE392525EF29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28">
              <a:extLst>
                <a:ext uri="{FF2B5EF4-FFF2-40B4-BE49-F238E27FC236}">
                  <a16:creationId xmlns:a16="http://schemas.microsoft.com/office/drawing/2014/main" id="{5AFC5E81-BD49-8854-AE72-7FFF0DE9D257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29">
              <a:extLst>
                <a:ext uri="{FF2B5EF4-FFF2-40B4-BE49-F238E27FC236}">
                  <a16:creationId xmlns:a16="http://schemas.microsoft.com/office/drawing/2014/main" id="{476EA956-DA6E-38F4-E41E-39CD4275DD9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30">
              <a:extLst>
                <a:ext uri="{FF2B5EF4-FFF2-40B4-BE49-F238E27FC236}">
                  <a16:creationId xmlns:a16="http://schemas.microsoft.com/office/drawing/2014/main" id="{38BA4330-968A-CD08-C32A-1AB62BA4060E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31">
              <a:extLst>
                <a:ext uri="{FF2B5EF4-FFF2-40B4-BE49-F238E27FC236}">
                  <a16:creationId xmlns:a16="http://schemas.microsoft.com/office/drawing/2014/main" id="{139C8CA0-F4D9-106C-2539-EAC9FFE03A98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42" name="Рисунок 141">
              <a:extLst>
                <a:ext uri="{FF2B5EF4-FFF2-40B4-BE49-F238E27FC236}">
                  <a16:creationId xmlns:a16="http://schemas.microsoft.com/office/drawing/2014/main" id="{B710F069-E351-BE87-1018-2661A76A8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>
              <a:extLst>
                <a:ext uri="{FF2B5EF4-FFF2-40B4-BE49-F238E27FC236}">
                  <a16:creationId xmlns:a16="http://schemas.microsoft.com/office/drawing/2014/main" id="{71E4939B-0E00-8909-8012-C8043D8DCAD7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34">
              <a:extLst>
                <a:ext uri="{FF2B5EF4-FFF2-40B4-BE49-F238E27FC236}">
                  <a16:creationId xmlns:a16="http://schemas.microsoft.com/office/drawing/2014/main" id="{5C4DB02A-9E60-644A-BD04-122262EA9C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35">
              <a:extLst>
                <a:ext uri="{FF2B5EF4-FFF2-40B4-BE49-F238E27FC236}">
                  <a16:creationId xmlns:a16="http://schemas.microsoft.com/office/drawing/2014/main" id="{A8C103F3-04F0-28A6-D985-85A41641334F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: фигура 36">
              <a:extLst>
                <a:ext uri="{FF2B5EF4-FFF2-40B4-BE49-F238E27FC236}">
                  <a16:creationId xmlns:a16="http://schemas.microsoft.com/office/drawing/2014/main" id="{672B7A39-41AC-BB07-5409-21F650DF0E89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6F6876AF-B1D2-D1B1-91CC-C9E4B6B41445}"/>
              </a:ext>
            </a:extLst>
          </p:cNvPr>
          <p:cNvGrpSpPr/>
          <p:nvPr/>
        </p:nvGrpSpPr>
        <p:grpSpPr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>
              <a:extLst>
                <a:ext uri="{FF2B5EF4-FFF2-40B4-BE49-F238E27FC236}">
                  <a16:creationId xmlns:a16="http://schemas.microsoft.com/office/drawing/2014/main" id="{E8AC8241-89F5-74DB-F469-C2BA9BE0C024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9" name="Полилиния: фигура 14">
              <a:extLst>
                <a:ext uri="{FF2B5EF4-FFF2-40B4-BE49-F238E27FC236}">
                  <a16:creationId xmlns:a16="http://schemas.microsoft.com/office/drawing/2014/main" id="{84434B8C-47C7-6BE9-D4B7-0B893BCC5BD5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0" name="Полилиния: фигура 15">
              <a:extLst>
                <a:ext uri="{FF2B5EF4-FFF2-40B4-BE49-F238E27FC236}">
                  <a16:creationId xmlns:a16="http://schemas.microsoft.com/office/drawing/2014/main" id="{5263283D-705A-5613-18ED-E80BDE52AFCA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6">
              <a:extLst>
                <a:ext uri="{FF2B5EF4-FFF2-40B4-BE49-F238E27FC236}">
                  <a16:creationId xmlns:a16="http://schemas.microsoft.com/office/drawing/2014/main" id="{744D4512-D838-3AD8-499E-05E6B87490C1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7">
              <a:extLst>
                <a:ext uri="{FF2B5EF4-FFF2-40B4-BE49-F238E27FC236}">
                  <a16:creationId xmlns:a16="http://schemas.microsoft.com/office/drawing/2014/main" id="{57B1D57F-7138-34E6-ADEF-6E34A735ABB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8">
              <a:extLst>
                <a:ext uri="{FF2B5EF4-FFF2-40B4-BE49-F238E27FC236}">
                  <a16:creationId xmlns:a16="http://schemas.microsoft.com/office/drawing/2014/main" id="{F820A8CD-CB50-CF85-631E-0D2ABB0DA0AE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9">
              <a:extLst>
                <a:ext uri="{FF2B5EF4-FFF2-40B4-BE49-F238E27FC236}">
                  <a16:creationId xmlns:a16="http://schemas.microsoft.com/office/drawing/2014/main" id="{E04E2701-FE1E-5CC3-36AF-B4B9D29FD242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20">
              <a:extLst>
                <a:ext uri="{FF2B5EF4-FFF2-40B4-BE49-F238E27FC236}">
                  <a16:creationId xmlns:a16="http://schemas.microsoft.com/office/drawing/2014/main" id="{8CD1AA2D-A392-D1E3-DF78-0AEA26501D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21">
              <a:extLst>
                <a:ext uri="{FF2B5EF4-FFF2-40B4-BE49-F238E27FC236}">
                  <a16:creationId xmlns:a16="http://schemas.microsoft.com/office/drawing/2014/main" id="{2C59B60B-FC7B-96E9-43B4-E6248B35E7F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22">
              <a:extLst>
                <a:ext uri="{FF2B5EF4-FFF2-40B4-BE49-F238E27FC236}">
                  <a16:creationId xmlns:a16="http://schemas.microsoft.com/office/drawing/2014/main" id="{C1F8F87E-2226-19FB-7129-485EFF2952F3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23">
              <a:extLst>
                <a:ext uri="{FF2B5EF4-FFF2-40B4-BE49-F238E27FC236}">
                  <a16:creationId xmlns:a16="http://schemas.microsoft.com/office/drawing/2014/main" id="{19CF104F-7F1A-9575-3974-58D1C393CB8C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24">
              <a:extLst>
                <a:ext uri="{FF2B5EF4-FFF2-40B4-BE49-F238E27FC236}">
                  <a16:creationId xmlns:a16="http://schemas.microsoft.com/office/drawing/2014/main" id="{08D91672-4E5C-7BA4-1CE5-A30F3A8D8B90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25">
              <a:extLst>
                <a:ext uri="{FF2B5EF4-FFF2-40B4-BE49-F238E27FC236}">
                  <a16:creationId xmlns:a16="http://schemas.microsoft.com/office/drawing/2014/main" id="{0E644CEA-C8F9-E939-4113-FFB9CC6A10CB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26">
              <a:extLst>
                <a:ext uri="{FF2B5EF4-FFF2-40B4-BE49-F238E27FC236}">
                  <a16:creationId xmlns:a16="http://schemas.microsoft.com/office/drawing/2014/main" id="{A9463AC2-3CBD-AD7F-C2FC-3E6B8898F61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27">
              <a:extLst>
                <a:ext uri="{FF2B5EF4-FFF2-40B4-BE49-F238E27FC236}">
                  <a16:creationId xmlns:a16="http://schemas.microsoft.com/office/drawing/2014/main" id="{A0B742DC-234C-DFDF-1731-F5483C135F77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28">
              <a:extLst>
                <a:ext uri="{FF2B5EF4-FFF2-40B4-BE49-F238E27FC236}">
                  <a16:creationId xmlns:a16="http://schemas.microsoft.com/office/drawing/2014/main" id="{295E8F4E-2D3F-0442-68E4-45516C2C0F7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29">
              <a:extLst>
                <a:ext uri="{FF2B5EF4-FFF2-40B4-BE49-F238E27FC236}">
                  <a16:creationId xmlns:a16="http://schemas.microsoft.com/office/drawing/2014/main" id="{EC3523CB-F469-D234-C98C-68A35D5DC1EE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30">
              <a:extLst>
                <a:ext uri="{FF2B5EF4-FFF2-40B4-BE49-F238E27FC236}">
                  <a16:creationId xmlns:a16="http://schemas.microsoft.com/office/drawing/2014/main" id="{C1E692C9-11C7-FD16-0691-269E9730C0D7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31">
              <a:extLst>
                <a:ext uri="{FF2B5EF4-FFF2-40B4-BE49-F238E27FC236}">
                  <a16:creationId xmlns:a16="http://schemas.microsoft.com/office/drawing/2014/main" id="{8A8BCBC3-F8B9-E268-FA91-BE0B91504CB7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67" name="Рисунок 166">
              <a:extLst>
                <a:ext uri="{FF2B5EF4-FFF2-40B4-BE49-F238E27FC236}">
                  <a16:creationId xmlns:a16="http://schemas.microsoft.com/office/drawing/2014/main" id="{275DD60F-C19A-9738-1499-379E38B89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>
              <a:extLst>
                <a:ext uri="{FF2B5EF4-FFF2-40B4-BE49-F238E27FC236}">
                  <a16:creationId xmlns:a16="http://schemas.microsoft.com/office/drawing/2014/main" id="{0C1A32E6-71CE-D73A-D08C-E614CC7D3E3D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34">
              <a:extLst>
                <a:ext uri="{FF2B5EF4-FFF2-40B4-BE49-F238E27FC236}">
                  <a16:creationId xmlns:a16="http://schemas.microsoft.com/office/drawing/2014/main" id="{F634A189-F19F-9C70-5515-9E924535DC9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35">
              <a:extLst>
                <a:ext uri="{FF2B5EF4-FFF2-40B4-BE49-F238E27FC236}">
                  <a16:creationId xmlns:a16="http://schemas.microsoft.com/office/drawing/2014/main" id="{FEC821A6-0C1B-A5D1-4EE3-7BC96AF6DC8D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36">
              <a:extLst>
                <a:ext uri="{FF2B5EF4-FFF2-40B4-BE49-F238E27FC236}">
                  <a16:creationId xmlns:a16="http://schemas.microsoft.com/office/drawing/2014/main" id="{DCBB9EDB-AF53-F46A-71B2-6496483F87B8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72" name="Группа 171">
            <a:extLst>
              <a:ext uri="{FF2B5EF4-FFF2-40B4-BE49-F238E27FC236}">
                <a16:creationId xmlns:a16="http://schemas.microsoft.com/office/drawing/2014/main" id="{28B88200-E25B-E61C-1E68-2D2C2B01BCE5}"/>
              </a:ext>
            </a:extLst>
          </p:cNvPr>
          <p:cNvGrpSpPr/>
          <p:nvPr/>
        </p:nvGrpSpPr>
        <p:grpSpPr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>
              <a:extLst>
                <a:ext uri="{FF2B5EF4-FFF2-40B4-BE49-F238E27FC236}">
                  <a16:creationId xmlns:a16="http://schemas.microsoft.com/office/drawing/2014/main" id="{A9CDA20E-DC0B-7574-8A53-2FE5A69E3137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4" name="Полилиния: фигура 14">
              <a:extLst>
                <a:ext uri="{FF2B5EF4-FFF2-40B4-BE49-F238E27FC236}">
                  <a16:creationId xmlns:a16="http://schemas.microsoft.com/office/drawing/2014/main" id="{C6EDF764-F67B-E72A-96F7-9AD40839714F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5" name="Полилиния: фигура 15">
              <a:extLst>
                <a:ext uri="{FF2B5EF4-FFF2-40B4-BE49-F238E27FC236}">
                  <a16:creationId xmlns:a16="http://schemas.microsoft.com/office/drawing/2014/main" id="{3FAA0615-8C83-2C58-58C1-270E46BD11DD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6">
              <a:extLst>
                <a:ext uri="{FF2B5EF4-FFF2-40B4-BE49-F238E27FC236}">
                  <a16:creationId xmlns:a16="http://schemas.microsoft.com/office/drawing/2014/main" id="{6DA7610E-8695-F698-FBE5-F1EA1A34BCA3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7">
              <a:extLst>
                <a:ext uri="{FF2B5EF4-FFF2-40B4-BE49-F238E27FC236}">
                  <a16:creationId xmlns:a16="http://schemas.microsoft.com/office/drawing/2014/main" id="{C2B0886E-C1A1-F8FB-DE0A-7E00B1A7012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8">
              <a:extLst>
                <a:ext uri="{FF2B5EF4-FFF2-40B4-BE49-F238E27FC236}">
                  <a16:creationId xmlns:a16="http://schemas.microsoft.com/office/drawing/2014/main" id="{F6E82E9D-82A0-F318-F846-F9AA582ADCE6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9">
              <a:extLst>
                <a:ext uri="{FF2B5EF4-FFF2-40B4-BE49-F238E27FC236}">
                  <a16:creationId xmlns:a16="http://schemas.microsoft.com/office/drawing/2014/main" id="{6CD40789-5D3D-6EE9-2675-745C2BDC65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20">
              <a:extLst>
                <a:ext uri="{FF2B5EF4-FFF2-40B4-BE49-F238E27FC236}">
                  <a16:creationId xmlns:a16="http://schemas.microsoft.com/office/drawing/2014/main" id="{158DFE1D-B6C8-7D8D-1E07-17C4E0EEF55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21">
              <a:extLst>
                <a:ext uri="{FF2B5EF4-FFF2-40B4-BE49-F238E27FC236}">
                  <a16:creationId xmlns:a16="http://schemas.microsoft.com/office/drawing/2014/main" id="{D8DEFA81-42B3-5DA3-7630-FDBDF31D670E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22">
              <a:extLst>
                <a:ext uri="{FF2B5EF4-FFF2-40B4-BE49-F238E27FC236}">
                  <a16:creationId xmlns:a16="http://schemas.microsoft.com/office/drawing/2014/main" id="{BB1811A3-3629-FDD8-6775-7826417B17BB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23">
              <a:extLst>
                <a:ext uri="{FF2B5EF4-FFF2-40B4-BE49-F238E27FC236}">
                  <a16:creationId xmlns:a16="http://schemas.microsoft.com/office/drawing/2014/main" id="{0C885996-2D3E-94A9-F80B-759C2B77BEFD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: фигура 24">
              <a:extLst>
                <a:ext uri="{FF2B5EF4-FFF2-40B4-BE49-F238E27FC236}">
                  <a16:creationId xmlns:a16="http://schemas.microsoft.com/office/drawing/2014/main" id="{7A637849-F366-366B-2B72-613C030A10ED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25">
              <a:extLst>
                <a:ext uri="{FF2B5EF4-FFF2-40B4-BE49-F238E27FC236}">
                  <a16:creationId xmlns:a16="http://schemas.microsoft.com/office/drawing/2014/main" id="{110EFEA7-7F4A-95B8-43B8-6F88654392F3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26">
              <a:extLst>
                <a:ext uri="{FF2B5EF4-FFF2-40B4-BE49-F238E27FC236}">
                  <a16:creationId xmlns:a16="http://schemas.microsoft.com/office/drawing/2014/main" id="{6775B6E1-3AE7-DCB7-993C-A3BB57DEB079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27">
              <a:extLst>
                <a:ext uri="{FF2B5EF4-FFF2-40B4-BE49-F238E27FC236}">
                  <a16:creationId xmlns:a16="http://schemas.microsoft.com/office/drawing/2014/main" id="{A1B076D4-6F0A-6994-8304-90264BE47B6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28">
              <a:extLst>
                <a:ext uri="{FF2B5EF4-FFF2-40B4-BE49-F238E27FC236}">
                  <a16:creationId xmlns:a16="http://schemas.microsoft.com/office/drawing/2014/main" id="{03D70E49-6A46-60F0-235C-230EB8697FFF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29">
              <a:extLst>
                <a:ext uri="{FF2B5EF4-FFF2-40B4-BE49-F238E27FC236}">
                  <a16:creationId xmlns:a16="http://schemas.microsoft.com/office/drawing/2014/main" id="{638DC947-2E6A-E1E4-48C6-C82F296AF48F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30">
              <a:extLst>
                <a:ext uri="{FF2B5EF4-FFF2-40B4-BE49-F238E27FC236}">
                  <a16:creationId xmlns:a16="http://schemas.microsoft.com/office/drawing/2014/main" id="{2133978C-A68D-962F-7B3F-8C121D583304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: фигура 31">
              <a:extLst>
                <a:ext uri="{FF2B5EF4-FFF2-40B4-BE49-F238E27FC236}">
                  <a16:creationId xmlns:a16="http://schemas.microsoft.com/office/drawing/2014/main" id="{E7337AD2-C975-8EEA-309F-C9BEC7D9B80A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92" name="Рисунок 191">
              <a:extLst>
                <a:ext uri="{FF2B5EF4-FFF2-40B4-BE49-F238E27FC236}">
                  <a16:creationId xmlns:a16="http://schemas.microsoft.com/office/drawing/2014/main" id="{EBC94221-5003-CC9C-1BA6-39584F78B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>
              <a:extLst>
                <a:ext uri="{FF2B5EF4-FFF2-40B4-BE49-F238E27FC236}">
                  <a16:creationId xmlns:a16="http://schemas.microsoft.com/office/drawing/2014/main" id="{D717B4FB-A27A-CAA6-3D77-01AD01672953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34">
              <a:extLst>
                <a:ext uri="{FF2B5EF4-FFF2-40B4-BE49-F238E27FC236}">
                  <a16:creationId xmlns:a16="http://schemas.microsoft.com/office/drawing/2014/main" id="{34C8B6EF-76B0-66A8-48F8-451128B8EF5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35">
              <a:extLst>
                <a:ext uri="{FF2B5EF4-FFF2-40B4-BE49-F238E27FC236}">
                  <a16:creationId xmlns:a16="http://schemas.microsoft.com/office/drawing/2014/main" id="{C4E22E47-5653-9FC4-E418-B13F750799A0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: фигура 36">
              <a:extLst>
                <a:ext uri="{FF2B5EF4-FFF2-40B4-BE49-F238E27FC236}">
                  <a16:creationId xmlns:a16="http://schemas.microsoft.com/office/drawing/2014/main" id="{288CF8AC-8E86-147B-676C-4A0A4618F6E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7" name="Группа 196">
            <a:extLst>
              <a:ext uri="{FF2B5EF4-FFF2-40B4-BE49-F238E27FC236}">
                <a16:creationId xmlns:a16="http://schemas.microsoft.com/office/drawing/2014/main" id="{09B9B184-25F2-7359-333D-5EB9A60B8EFD}"/>
              </a:ext>
            </a:extLst>
          </p:cNvPr>
          <p:cNvGrpSpPr/>
          <p:nvPr/>
        </p:nvGrpSpPr>
        <p:grpSpPr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>
              <a:extLst>
                <a:ext uri="{FF2B5EF4-FFF2-40B4-BE49-F238E27FC236}">
                  <a16:creationId xmlns:a16="http://schemas.microsoft.com/office/drawing/2014/main" id="{E3F377FC-00D5-EF59-5B13-016CF3D10D8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9" name="Полилиния: фигура 14">
              <a:extLst>
                <a:ext uri="{FF2B5EF4-FFF2-40B4-BE49-F238E27FC236}">
                  <a16:creationId xmlns:a16="http://schemas.microsoft.com/office/drawing/2014/main" id="{FC792052-29C1-6D35-7F6B-79A599C639D7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0" name="Полилиния: фигура 15">
              <a:extLst>
                <a:ext uri="{FF2B5EF4-FFF2-40B4-BE49-F238E27FC236}">
                  <a16:creationId xmlns:a16="http://schemas.microsoft.com/office/drawing/2014/main" id="{E5A98475-EA25-67D6-4D5F-15BF00331AEB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16">
              <a:extLst>
                <a:ext uri="{FF2B5EF4-FFF2-40B4-BE49-F238E27FC236}">
                  <a16:creationId xmlns:a16="http://schemas.microsoft.com/office/drawing/2014/main" id="{81E5799A-EDA9-923F-4306-CDB07B346B8B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2" name="Полилиния: фигура 17">
              <a:extLst>
                <a:ext uri="{FF2B5EF4-FFF2-40B4-BE49-F238E27FC236}">
                  <a16:creationId xmlns:a16="http://schemas.microsoft.com/office/drawing/2014/main" id="{C8C06C37-DF23-F749-53E7-43DD5F9A34DA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18">
              <a:extLst>
                <a:ext uri="{FF2B5EF4-FFF2-40B4-BE49-F238E27FC236}">
                  <a16:creationId xmlns:a16="http://schemas.microsoft.com/office/drawing/2014/main" id="{18AB0B4B-8AF4-3CED-546E-8A0EDD0343AA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19">
              <a:extLst>
                <a:ext uri="{FF2B5EF4-FFF2-40B4-BE49-F238E27FC236}">
                  <a16:creationId xmlns:a16="http://schemas.microsoft.com/office/drawing/2014/main" id="{A09F4E37-B8CD-2EF9-2BDD-679C42F718DF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20">
              <a:extLst>
                <a:ext uri="{FF2B5EF4-FFF2-40B4-BE49-F238E27FC236}">
                  <a16:creationId xmlns:a16="http://schemas.microsoft.com/office/drawing/2014/main" id="{9D8C252F-C832-C60B-67B3-B6D013188DB3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21">
              <a:extLst>
                <a:ext uri="{FF2B5EF4-FFF2-40B4-BE49-F238E27FC236}">
                  <a16:creationId xmlns:a16="http://schemas.microsoft.com/office/drawing/2014/main" id="{FA7900B1-7A25-63CF-0588-70A25C00B663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: фигура 22">
              <a:extLst>
                <a:ext uri="{FF2B5EF4-FFF2-40B4-BE49-F238E27FC236}">
                  <a16:creationId xmlns:a16="http://schemas.microsoft.com/office/drawing/2014/main" id="{EFB55E02-77C2-7DAA-FBBD-AAD9F92F0831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8" name="Полилиния: фигура 23">
              <a:extLst>
                <a:ext uri="{FF2B5EF4-FFF2-40B4-BE49-F238E27FC236}">
                  <a16:creationId xmlns:a16="http://schemas.microsoft.com/office/drawing/2014/main" id="{30535304-E628-32AB-C6BA-19E520C656BF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9" name="Полилиния: фигура 24">
              <a:extLst>
                <a:ext uri="{FF2B5EF4-FFF2-40B4-BE49-F238E27FC236}">
                  <a16:creationId xmlns:a16="http://schemas.microsoft.com/office/drawing/2014/main" id="{78104E2D-A620-47E2-40F3-A995004EE446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: фигура 25">
              <a:extLst>
                <a:ext uri="{FF2B5EF4-FFF2-40B4-BE49-F238E27FC236}">
                  <a16:creationId xmlns:a16="http://schemas.microsoft.com/office/drawing/2014/main" id="{8EB92C67-7F68-803C-FB9E-2D13E650E6A1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26">
              <a:extLst>
                <a:ext uri="{FF2B5EF4-FFF2-40B4-BE49-F238E27FC236}">
                  <a16:creationId xmlns:a16="http://schemas.microsoft.com/office/drawing/2014/main" id="{3E0B4E90-F08C-B5ED-761E-838F2F9D531E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27">
              <a:extLst>
                <a:ext uri="{FF2B5EF4-FFF2-40B4-BE49-F238E27FC236}">
                  <a16:creationId xmlns:a16="http://schemas.microsoft.com/office/drawing/2014/main" id="{B6C8B631-B5E5-473B-FD01-2491F51BF4AA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: фигура 28">
              <a:extLst>
                <a:ext uri="{FF2B5EF4-FFF2-40B4-BE49-F238E27FC236}">
                  <a16:creationId xmlns:a16="http://schemas.microsoft.com/office/drawing/2014/main" id="{380F7E94-40B3-49EA-38A2-A4683915276E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: фигура 29">
              <a:extLst>
                <a:ext uri="{FF2B5EF4-FFF2-40B4-BE49-F238E27FC236}">
                  <a16:creationId xmlns:a16="http://schemas.microsoft.com/office/drawing/2014/main" id="{F9385ADB-6D1B-C79D-F5BB-B03F408AFC6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5" name="Полилиния: фигура 30">
              <a:extLst>
                <a:ext uri="{FF2B5EF4-FFF2-40B4-BE49-F238E27FC236}">
                  <a16:creationId xmlns:a16="http://schemas.microsoft.com/office/drawing/2014/main" id="{00D97A09-43D0-4152-831C-C7744B4FE7E6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6" name="Полилиния: фигура 31">
              <a:extLst>
                <a:ext uri="{FF2B5EF4-FFF2-40B4-BE49-F238E27FC236}">
                  <a16:creationId xmlns:a16="http://schemas.microsoft.com/office/drawing/2014/main" id="{83CFD5B5-DF45-F681-5596-E631C837531E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217" name="Рисунок 216">
              <a:extLst>
                <a:ext uri="{FF2B5EF4-FFF2-40B4-BE49-F238E27FC236}">
                  <a16:creationId xmlns:a16="http://schemas.microsoft.com/office/drawing/2014/main" id="{5AED15A4-4D29-1A14-4213-148543BBC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>
              <a:extLst>
                <a:ext uri="{FF2B5EF4-FFF2-40B4-BE49-F238E27FC236}">
                  <a16:creationId xmlns:a16="http://schemas.microsoft.com/office/drawing/2014/main" id="{D613CEB1-BB3C-206D-6D01-E1CB7887B429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34">
              <a:extLst>
                <a:ext uri="{FF2B5EF4-FFF2-40B4-BE49-F238E27FC236}">
                  <a16:creationId xmlns:a16="http://schemas.microsoft.com/office/drawing/2014/main" id="{69F35FD4-E9E3-2671-1E63-C0ECA01A6C97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: фигура 35">
              <a:extLst>
                <a:ext uri="{FF2B5EF4-FFF2-40B4-BE49-F238E27FC236}">
                  <a16:creationId xmlns:a16="http://schemas.microsoft.com/office/drawing/2014/main" id="{6DDAF0B9-15C9-D0FE-7E34-9051A84DDBB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36">
              <a:extLst>
                <a:ext uri="{FF2B5EF4-FFF2-40B4-BE49-F238E27FC236}">
                  <a16:creationId xmlns:a16="http://schemas.microsoft.com/office/drawing/2014/main" id="{BB968C32-6E31-7C3C-54D5-B0EED92672B1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B78984E-BF6A-592D-77E7-74F307B3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434290"/>
            <a:ext cx="3941317" cy="402336"/>
          </a:xfrm>
        </p:spPr>
        <p:txBody>
          <a:bodyPr wrap="none"/>
          <a:lstStyle/>
          <a:p>
            <a:pPr/>
            <a:r>
              <a:rPr lang="ru-RU"/>
              <a:t>04 · МОБИЛЬНАЯ ВЕРСИЯ</a:t>
            </a:r>
          </a:p>
        </p:txBody>
      </p:sp>
    </p:spTree>
    <p:extLst>
      <p:ext uri="{BB962C8B-B14F-4D97-AF65-F5344CB8AC3E}">
        <p14:creationId xmlns:p14="http://schemas.microsoft.com/office/powerpoint/2010/main" val="3503772060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